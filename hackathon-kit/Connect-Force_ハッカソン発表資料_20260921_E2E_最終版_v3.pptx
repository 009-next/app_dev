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11ffa58a504ebc" /><Relationship Type="http://schemas.openxmlformats.org/officeDocument/2006/relationships/extended-properties" Target="/docProps/app.xml" Id="R21dca950338a4908" /><Relationship Type="http://schemas.openxmlformats.org/officeDocument/2006/relationships/officeDocument" Target="/ppt/presentation.xml" Id="Rd00984b2f00c47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db18369f954a0f"/>
  </p:sldMasterIdLst>
  <p:notesMasterIdLst>
    <p:notesMasterId xmlns:r="http://schemas.openxmlformats.org/officeDocument/2006/relationships" r:id="R8df1469651dd430b"/>
  </p:notesMasterIdLst>
  <p:sldIdLst>
    <p:sldId xmlns:r="http://schemas.openxmlformats.org/officeDocument/2006/relationships" id="256" r:id="R44e31b20241d4131"/>
    <p:sldId xmlns:r="http://schemas.openxmlformats.org/officeDocument/2006/relationships" id="257" r:id="R44241cd580f84af5"/>
    <p:sldId xmlns:r="http://schemas.openxmlformats.org/officeDocument/2006/relationships" id="258" r:id="R1128436158e043d4"/>
    <p:sldId xmlns:r="http://schemas.openxmlformats.org/officeDocument/2006/relationships" id="259" r:id="Rd267b665c0ca4ffb"/>
    <p:sldId xmlns:r="http://schemas.openxmlformats.org/officeDocument/2006/relationships" id="260" r:id="R7e0a9f0e0844469b"/>
    <p:sldId xmlns:r="http://schemas.openxmlformats.org/officeDocument/2006/relationships" id="261" r:id="Rde1c25783ac24443"/>
    <p:sldId xmlns:r="http://schemas.openxmlformats.org/officeDocument/2006/relationships" id="262" r:id="R4b326dd065994384"/>
    <p:sldId xmlns:r="http://schemas.openxmlformats.org/officeDocument/2006/relationships" id="263" r:id="R2a53bd25e2594bd9"/>
    <p:sldId xmlns:r="http://schemas.openxmlformats.org/officeDocument/2006/relationships" id="264" r:id="Rb5879b33cb80458f"/>
    <p:sldId xmlns:r="http://schemas.openxmlformats.org/officeDocument/2006/relationships" id="265" r:id="Rb496cd305e974ac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21540a14a74148" /><Relationship Type="http://schemas.openxmlformats.org/officeDocument/2006/relationships/slideMaster" Target="/ppt/slideMasters/slideMaster1.xml" Id="Rd8db18369f954a0f" /><Relationship Type="http://schemas.openxmlformats.org/officeDocument/2006/relationships/notesMaster" Target="/ppt/notesMasters/notesMaster1.xml" Id="R8df1469651dd430b" /><Relationship Type="http://schemas.openxmlformats.org/officeDocument/2006/relationships/presProps" Target="/ppt/presProps.xml" Id="R364e07785e934bcd" /><Relationship Type="http://schemas.openxmlformats.org/officeDocument/2006/relationships/tableStyles" Target="/ppt/tableStyles.xml" Id="R470e2769eeaf41d1" /><Relationship Type="http://schemas.openxmlformats.org/officeDocument/2006/relationships/slide" Target="/ppt/slides/slide1.xml" Id="R44e31b20241d4131" /><Relationship Type="http://schemas.openxmlformats.org/officeDocument/2006/relationships/slide" Target="/ppt/slides/slide2.xml" Id="R44241cd580f84af5" /><Relationship Type="http://schemas.openxmlformats.org/officeDocument/2006/relationships/slide" Target="/ppt/slides/slide3.xml" Id="R1128436158e043d4" /><Relationship Type="http://schemas.openxmlformats.org/officeDocument/2006/relationships/slide" Target="/ppt/slides/slide4.xml" Id="Rd267b665c0ca4ffb" /><Relationship Type="http://schemas.openxmlformats.org/officeDocument/2006/relationships/slide" Target="/ppt/slides/slide5.xml" Id="R7e0a9f0e0844469b" /><Relationship Type="http://schemas.openxmlformats.org/officeDocument/2006/relationships/slide" Target="/ppt/slides/slide6.xml" Id="Rde1c25783ac24443" /><Relationship Type="http://schemas.openxmlformats.org/officeDocument/2006/relationships/slide" Target="/ppt/slides/slide7.xml" Id="R4b326dd065994384" /><Relationship Type="http://schemas.openxmlformats.org/officeDocument/2006/relationships/slide" Target="/ppt/slides/slide8.xml" Id="R2a53bd25e2594bd9" /><Relationship Type="http://schemas.openxmlformats.org/officeDocument/2006/relationships/slide" Target="/ppt/slides/slide9.xml" Id="Rb5879b33cb80458f" /><Relationship Type="http://schemas.openxmlformats.org/officeDocument/2006/relationships/slide" Target="/ppt/slides/slide10.xml" Id="Rb496cd305e974a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22094f501a43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a6b387d0be45de" /><Relationship Type="http://schemas.openxmlformats.org/officeDocument/2006/relationships/notesMaster" Target="/ppt/notesMasters/notesMaster1.xml" Id="Rde3d914029c74d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b70c2b9b3a421b" /><Relationship Type="http://schemas.openxmlformats.org/officeDocument/2006/relationships/notesMaster" Target="/ppt/notesMasters/notesMaster1.xml" Id="R22cfe70d5c9140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fceadb6672490e" /><Relationship Type="http://schemas.openxmlformats.org/officeDocument/2006/relationships/notesMaster" Target="/ppt/notesMasters/notesMaster1.xml" Id="R6fa0f55aa8b249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84f04ef2ba475c" /><Relationship Type="http://schemas.openxmlformats.org/officeDocument/2006/relationships/notesMaster" Target="/ppt/notesMasters/notesMaster1.xml" Id="R0e685b456df943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74d8a2f2514191" /><Relationship Type="http://schemas.openxmlformats.org/officeDocument/2006/relationships/notesMaster" Target="/ppt/notesMasters/notesMaster1.xml" Id="R5870cfef8edc46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47c87eb17e4ec6" /><Relationship Type="http://schemas.openxmlformats.org/officeDocument/2006/relationships/notesMaster" Target="/ppt/notesMasters/notesMaster1.xml" Id="R25a3b27d8cda40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aebaed9da14f79" /><Relationship Type="http://schemas.openxmlformats.org/officeDocument/2006/relationships/notesMaster" Target="/ppt/notesMasters/notesMaster1.xml" Id="R176bea5020e148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de1f2524ca940ac" /><Relationship Type="http://schemas.openxmlformats.org/officeDocument/2006/relationships/notesMaster" Target="/ppt/notesMasters/notesMaster1.xml" Id="Raaa1347d747f46f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ab2bb484064b6b" /><Relationship Type="http://schemas.openxmlformats.org/officeDocument/2006/relationships/notesMaster" Target="/ppt/notesMasters/notesMaster1.xml" Id="Rf271048d9a4549b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8597bd361447f9" /><Relationship Type="http://schemas.openxmlformats.org/officeDocument/2006/relationships/notesMaster" Target="/ppt/notesMasters/notesMaster1.xml" Id="Rc2951fb7df444a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Connect-Forceのハッカソン用紹介資料。背景画像は本提出キット用に生成したオリジナル素材。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現場情報の扱い方はアプリ仕様書と既存のVault運用に基づく。デモでは実在顧客・実設備の情報を含めない。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フロー画像は本提出キット用に生成したオリジナル素材。実装では、PC版はルール処理、Eve会話はTool選択を伴う。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機能の対応は docs/MISSION_ROOM_AGENT.md の現行実装との対応表に基づく。確率予測やQR/NFC等は未実装。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PC版の既定分析はルール処理でモデル0回。利用者が都度確認した場合だけ、最大30秒のマイク音声をORCA ROUTERへ送れる。要約はMissionへ自動投入しない。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音声の限定経路は、都度確認、最大30秒、マイクのみ、ORCA ROUTERのみ、保存なしをサーバーとUIで検査する。2026-09-21に実環境E2Eで3回連続成功を確認した。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2026-09-21: 自動テスト43件、TypeScript検査、本番ビルド、秘密情報スキャンが成功。ORCA ROUTER実環境E2Eは3回ともHTTP 200。各766入力token・60出力token、合計見積は$0.0011394。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基本デモは既存の合成デモ。音声分析は任意の補助デモで、外部送信の確認チェック、30秒制限、要約の非自動投入を説明する。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評価軸の根拠は、ローカルMVP、自動試験、ORCA ROUTER実環境E2Eに基づく。発表では、根拠、送信範囲、承認、コスト見積を画面で確認できる点を示す。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締め。Connect-Forceは、根拠と人の承認を中心に置く業務AIエージェント。音声の外部分析も、明示送信と停止条件を備えた限定経路として実装・実証した。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1078f5329d41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76799ee9194055" /><Relationship Type="http://schemas.openxmlformats.org/officeDocument/2006/relationships/slideLayout" Target="/ppt/slideLayouts/slideLayout1.xml" Id="Raefa6fc9e45344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fa6fc9e45344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2ba461d2214ddd" /><Relationship Type="http://schemas.openxmlformats.org/officeDocument/2006/relationships/image" Target="/ppt/media/image.png" Id="R960e8c9c51be4cff" /><Relationship Type="http://schemas.openxmlformats.org/officeDocument/2006/relationships/notesSlide" Target="/ppt/notesSlides/notesSlide1.xml" Id="R551b9ad68fc143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7e685c6e744e4e" /><Relationship Type="http://schemas.openxmlformats.org/officeDocument/2006/relationships/notesSlide" Target="/ppt/notesSlides/notesSlide2.xml" Id="R3d3dae9c279c4f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b463cced13481a" /><Relationship Type="http://schemas.openxmlformats.org/officeDocument/2006/relationships/image" Target="/ppt/media/image2.png" Id="Ra9f036742eb64b98" /><Relationship Type="http://schemas.openxmlformats.org/officeDocument/2006/relationships/notesSlide" Target="/ppt/notesSlides/notesSlide3.xml" Id="Ra4928035c17b4a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c145ebfb0747db" /><Relationship Type="http://schemas.openxmlformats.org/officeDocument/2006/relationships/notesSlide" Target="/ppt/notesSlides/notesSlide4.xml" Id="R25c4557ef25942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9590426800401a" /><Relationship Type="http://schemas.openxmlformats.org/officeDocument/2006/relationships/notesSlide" Target="/ppt/notesSlides/notesSlide5.xml" Id="R38db4bd2235e44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b482d088234159" /><Relationship Type="http://schemas.openxmlformats.org/officeDocument/2006/relationships/image" Target="/ppt/media/image3.png" Id="R16ef621dd8d943f1" /><Relationship Type="http://schemas.openxmlformats.org/officeDocument/2006/relationships/notesSlide" Target="/ppt/notesSlides/notesSlide6.xml" Id="Rfcabbbed945340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294be817914a70" /><Relationship Type="http://schemas.openxmlformats.org/officeDocument/2006/relationships/notesSlide" Target="/ppt/notesSlides/notesSlide7.xml" Id="R61bacb419b3f44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1834fd0df640e8" /><Relationship Type="http://schemas.openxmlformats.org/officeDocument/2006/relationships/notesSlide" Target="/ppt/notesSlides/notesSlide8.xml" Id="R8b2a17fd0b3f42e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405d9c45bc4176" /><Relationship Type="http://schemas.openxmlformats.org/officeDocument/2006/relationships/notesSlide" Target="/ppt/notesSlides/notesSlide9.xml" Id="R7d44f4b3a58842e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6da16f55df45d4" /><Relationship Type="http://schemas.openxmlformats.org/officeDocument/2006/relationships/image" Target="/ppt/media/image4.png" Id="R64074c60b18a4b97" /><Relationship Type="http://schemas.openxmlformats.org/officeDocument/2006/relationships/notesSlide" Target="/ppt/notesSlides/notesSlide10.xml" Id="R1a813c1fc9744d2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D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0e8c9c51be4cf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CDB55A-7C36-4F7E-AC3E-A81B520C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5D1E02-EE27-4EF7-9B10-676B0BF3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5429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30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業務を動かす前に</a:t>
            </a:r>
          </a:p>
          <a:p xmlns:a="http://schemas.openxmlformats.org/drawingml/2006/main">
            <a:pPr>
              <a:buNone/>
              <a:defRPr sz="30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30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根拠を集めるAI</a:t>
            </a:r>
          </a:p>
          <a:p xmlns:a="http://schemas.openxmlformats.org/drawingml/2006/main">
            <a:pPr>
              <a:buNone/>
              <a:defRPr sz="30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30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エージェント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8D3C4F-882C-4F04-A2F0-2DFF5DBB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50D3FF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50D3FF"/>
                </a:solidFill>
                <a:latin typeface="Noto Sans JP"/>
                <a:ea typeface="Noto Sans JP"/>
                <a:cs typeface="Noto Sans JP"/>
              </a:rPr>
              <a:t>Connect-Force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CC6857-7174-47F0-ACA1-99C21DA6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5095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65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現場の記録を読み、注意点を示し、承認後に次の行動へつなぐ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C65F34-D0B9-4114-A443-5276BA86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B9DDF4"/>
                </a:solidFill>
                <a:latin typeface="Noto Sans JP"/>
                <a:ea typeface="Noto Sans JP"/>
                <a:cs typeface="Noto Sans JP"/>
              </a:defRPr>
            </a:pPr>
            <a:r>
              <a:rPr sz="1200">
                <a:solidFill>
                  <a:srgbClr val="B9DDF4"/>
                </a:solidFill>
                <a:latin typeface="Noto Sans JP"/>
                <a:ea typeface="Noto Sans JP"/>
                <a:cs typeface="Noto Sans JP"/>
              </a:rPr>
              <a:t>Hackathon Demo  |  2026.09</a:t>
            </a:r>
          </a:p>
        </p:txBody>
      </p:sp>
    </p:spTree>
    <p:extLst>
      <p:ext uri="{BB962C8B-B14F-4D97-AF65-F5344CB8AC3E}">
        <p14:creationId xmlns:p14="http://schemas.microsoft.com/office/powerpoint/2010/main" val="6546518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0A04BE-018E-4108-90E6-C353406D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02238"/>
                </a:solidFill>
                <a:latin typeface="Noto Sans JP"/>
                <a:ea typeface="Noto Sans JP"/>
                <a:cs typeface="Noto Sans JP"/>
              </a:defRPr>
            </a:pPr>
            <a:r>
              <a:rPr sz="2850" b="1">
                <a:solidFill>
                  <a:srgbClr val="102238"/>
                </a:solidFill>
                <a:latin typeface="Noto Sans JP"/>
                <a:ea typeface="Noto Sans JP"/>
                <a:cs typeface="Noto Sans JP"/>
              </a:rPr>
              <a:t>現場の情報を、次の判断へつなぐ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B973F9-5247-4600-B29D-D5E239371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9906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687DB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1687DB"/>
                </a:solidFill>
                <a:latin typeface="Noto Sans JP"/>
                <a:ea typeface="Noto Sans JP"/>
                <a:cs typeface="Noto Sans JP"/>
              </a:rPr>
              <a:t>写真、履歴、判断、未完了タスクを同じ作業室で扱う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80D3B1-1952-4B7D-A09E-2A80A168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5B7188"/>
                </a:solidFill>
                <a:latin typeface="Noto Sans JP"/>
                <a:ea typeface="Noto Sans JP"/>
                <a:cs typeface="Noto Sans JP"/>
              </a:defRPr>
            </a:pPr>
            <a:r>
              <a:rPr sz="1200">
                <a:solidFill>
                  <a:srgbClr val="5B7188"/>
                </a:solidFill>
                <a:latin typeface="Noto Sans JP"/>
                <a:ea typeface="Noto Sans JP"/>
                <a:cs typeface="Noto Sans JP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2F00B8-D3CE-42AF-90C8-30955CAF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304800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5E3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3FC72A-13E9-4BA9-9CE3-B8695E2E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D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18D5AA-B0E3-4FD3-BB92-7345A15C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438400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6C8DE3-1482-404C-8F26-B3C48B3B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251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02238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102238"/>
                </a:solidFill>
                <a:latin typeface="Noto Sans JP"/>
                <a:ea typeface="Noto Sans JP"/>
                <a:cs typeface="Noto Sans JP"/>
              </a:rPr>
              <a:t>現場の記録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9EAD0F-3CDD-489B-8D44-AAA66BFA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2476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5B7188"/>
                </a:solidFill>
                <a:latin typeface="Noto Sans JP"/>
                <a:ea typeface="Noto Sans JP"/>
                <a:cs typeface="Noto Sans JP"/>
              </a:defRPr>
            </a:pPr>
            <a:r>
              <a:rPr sz="1500">
                <a:solidFill>
                  <a:srgbClr val="5B7188"/>
                </a:solidFill>
                <a:latin typeface="Noto Sans JP"/>
                <a:ea typeface="Noto Sans JP"/>
                <a:cs typeface="Noto Sans JP"/>
              </a:rPr>
              <a:t>写真と説明を</a:t>
            </a:r>
          </a:p>
          <a:p xmlns:a="http://schemas.openxmlformats.org/drawingml/2006/main">
            <a:pPr>
              <a:buNone/>
              <a:defRPr sz="1500">
                <a:solidFill>
                  <a:srgbClr val="5B7188"/>
                </a:solidFill>
                <a:latin typeface="Noto Sans JP"/>
                <a:ea typeface="Noto Sans JP"/>
                <a:cs typeface="Noto Sans JP"/>
              </a:defRPr>
            </a:pPr>
            <a:r>
              <a:rPr sz="1500">
                <a:solidFill>
                  <a:srgbClr val="5B7188"/>
                </a:solidFill>
                <a:latin typeface="Noto Sans JP"/>
                <a:ea typeface="Noto Sans JP"/>
                <a:cs typeface="Noto Sans JP"/>
              </a:rPr>
              <a:t>根拠とともに確認する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DA9400-17FB-48A5-83A4-CFBF7A15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38350"/>
            <a:ext cx="304800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5E3E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E982DD-607E-4C92-A574-758DFF45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241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9C2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73862C-D8EC-42EA-A89B-5E2378C2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438400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1ED934-8A3B-41AD-B1A6-44FBEC54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43250"/>
            <a:ext cx="251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02238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102238"/>
                </a:solidFill>
                <a:latin typeface="Noto Sans JP"/>
                <a:ea typeface="Noto Sans JP"/>
                <a:cs typeface="Noto Sans JP"/>
              </a:rPr>
              <a:t>組織の記憶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AF3805-F5BC-480A-B7B2-A248293F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57600"/>
            <a:ext cx="2476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5B7188"/>
                </a:solidFill>
                <a:latin typeface="Noto Sans JP"/>
                <a:ea typeface="Noto Sans JP"/>
                <a:cs typeface="Noto Sans JP"/>
              </a:defRPr>
            </a:pPr>
            <a:r>
              <a:rPr sz="1500">
                <a:solidFill>
                  <a:srgbClr val="5B7188"/>
                </a:solidFill>
                <a:latin typeface="Noto Sans JP"/>
                <a:ea typeface="Noto Sans JP"/>
                <a:cs typeface="Noto Sans JP"/>
              </a:rPr>
              <a:t>議事録やToDoを</a:t>
            </a:r>
          </a:p>
          <a:p xmlns:a="http://schemas.openxmlformats.org/drawingml/2006/main">
            <a:pPr>
              <a:buNone/>
              <a:defRPr sz="1500">
                <a:solidFill>
                  <a:srgbClr val="5B7188"/>
                </a:solidFill>
                <a:latin typeface="Noto Sans JP"/>
                <a:ea typeface="Noto Sans JP"/>
                <a:cs typeface="Noto Sans JP"/>
              </a:defRPr>
            </a:pPr>
            <a:r>
              <a:rPr sz="1500">
                <a:solidFill>
                  <a:srgbClr val="5B7188"/>
                </a:solidFill>
                <a:latin typeface="Noto Sans JP"/>
                <a:ea typeface="Noto Sans JP"/>
                <a:cs typeface="Noto Sans JP"/>
              </a:rPr>
              <a:t>案件に紐づけて参照する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7B5AA9-72C2-444C-96A4-6E1EC77C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38350"/>
            <a:ext cx="304800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5E3E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70B1FB-F497-48D1-9E6C-3BDC3682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241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A7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F9908A-969D-4DEB-9486-CF66EB13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38400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F1D7F2-0AD3-4EEC-A204-A8617D90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43250"/>
            <a:ext cx="251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02238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102238"/>
                </a:solidFill>
                <a:latin typeface="Noto Sans JP"/>
                <a:ea typeface="Noto Sans JP"/>
                <a:cs typeface="Noto Sans JP"/>
              </a:rPr>
              <a:t>判断の継続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713889-948E-49D2-83DE-37AB4EED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57600"/>
            <a:ext cx="2476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5B7188"/>
                </a:solidFill>
                <a:latin typeface="Noto Sans JP"/>
                <a:ea typeface="Noto Sans JP"/>
                <a:cs typeface="Noto Sans JP"/>
              </a:defRPr>
            </a:pPr>
            <a:r>
              <a:rPr sz="1500">
                <a:solidFill>
                  <a:srgbClr val="5B7188"/>
                </a:solidFill>
                <a:latin typeface="Noto Sans JP"/>
                <a:ea typeface="Noto Sans JP"/>
                <a:cs typeface="Noto Sans JP"/>
              </a:rPr>
              <a:t>保存前に内容を確認し</a:t>
            </a:r>
          </a:p>
          <a:p xmlns:a="http://schemas.openxmlformats.org/drawingml/2006/main">
            <a:pPr>
              <a:buNone/>
              <a:defRPr sz="1500">
                <a:solidFill>
                  <a:srgbClr val="5B7188"/>
                </a:solidFill>
                <a:latin typeface="Noto Sans JP"/>
                <a:ea typeface="Noto Sans JP"/>
                <a:cs typeface="Noto Sans JP"/>
              </a:defRPr>
            </a:pPr>
            <a:r>
              <a:rPr sz="1500">
                <a:solidFill>
                  <a:srgbClr val="5B7188"/>
                </a:solidFill>
                <a:latin typeface="Noto Sans JP"/>
                <a:ea typeface="Noto Sans JP"/>
                <a:cs typeface="Noto Sans JP"/>
              </a:rPr>
              <a:t>承認後に業務へ反映する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ED7D28-B2C1-4376-A6CE-A4DDA73D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38162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71D35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71D35"/>
                </a:solidFill>
                <a:latin typeface="Noto Sans JP"/>
                <a:ea typeface="Noto Sans JP"/>
                <a:cs typeface="Noto Sans JP"/>
              </a:rPr>
              <a:t>Connect-Forceは、設備を起点に「過去・現在・未来・行動」をひとつの作業室へまとめる。</a:t>
            </a:r>
          </a:p>
        </p:txBody>
      </p:sp>
    </p:spTree>
    <p:extLst>
      <p:ext uri="{BB962C8B-B14F-4D97-AF65-F5344CB8AC3E}">
        <p14:creationId xmlns:p14="http://schemas.microsoft.com/office/powerpoint/2010/main" val="18823594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3A0B32-95FC-43EF-A2B1-85F96CF3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02238"/>
                </a:solidFill>
                <a:latin typeface="Noto Sans JP"/>
                <a:ea typeface="Noto Sans JP"/>
                <a:cs typeface="Noto Sans JP"/>
              </a:defRPr>
            </a:pPr>
            <a:r>
              <a:rPr sz="2850" b="1">
                <a:solidFill>
                  <a:srgbClr val="102238"/>
                </a:solidFill>
                <a:latin typeface="Noto Sans JP"/>
                <a:ea typeface="Noto Sans JP"/>
                <a:cs typeface="Noto Sans JP"/>
              </a:rPr>
              <a:t>根拠を先に集め、最後に人が決める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571F9-4E18-4064-B63E-313764EB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9906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687DB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1687DB"/>
                </a:solidFill>
                <a:latin typeface="Noto Sans JP"/>
                <a:ea typeface="Noto Sans JP"/>
                <a:cs typeface="Noto Sans JP"/>
              </a:rPr>
              <a:t>AIの出力はすべて次の行動ではなく、確認可能な下書きとして扱う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27F491-C078-4CEB-8EB5-622EF7DC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5B7188"/>
                </a:solidFill>
                <a:latin typeface="Noto Sans JP"/>
                <a:ea typeface="Noto Sans JP"/>
                <a:cs typeface="Noto Sans JP"/>
              </a:defRPr>
            </a:pPr>
            <a:r>
              <a:rPr sz="1200">
                <a:solidFill>
                  <a:srgbClr val="5B7188"/>
                </a:solidFill>
                <a:latin typeface="Noto Sans JP"/>
                <a:ea typeface="Noto Sans JP"/>
                <a:cs typeface="Noto Sans JP"/>
              </a:rPr>
              <a:t>03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f036742eb64b98"/>
          <a:stretch xmlns:a="http://schemas.openxmlformats.org/drawingml/2006/main"/>
        </p:blipFill>
        <p:spPr>
          <a:xfrm xmlns:a="http://schemas.openxmlformats.org/drawingml/2006/main">
            <a:off x="2414957" y="1666875"/>
            <a:ext cx="7362086" cy="4143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BB80E8-F00D-4F32-986A-66229832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3407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687DB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1687DB"/>
                </a:solidFill>
                <a:latin typeface="Noto Sans JP"/>
                <a:ea typeface="Noto Sans JP"/>
                <a:cs typeface="Noto Sans JP"/>
              </a:rPr>
              <a:t>履歴の復元  →  注意点の検知  →  対応案の比較  →  下書き  →  人の承認</a:t>
            </a:r>
          </a:p>
        </p:txBody>
      </p:sp>
    </p:spTree>
    <p:extLst>
      <p:ext uri="{BB962C8B-B14F-4D97-AF65-F5344CB8AC3E}">
        <p14:creationId xmlns:p14="http://schemas.microsoft.com/office/powerpoint/2010/main" val="20875920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0C075C-B036-4D3C-8660-4F4CE74D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02238"/>
                </a:solidFill>
                <a:latin typeface="Noto Sans JP"/>
                <a:ea typeface="Noto Sans JP"/>
                <a:cs typeface="Noto Sans JP"/>
              </a:defRPr>
            </a:pPr>
            <a:r>
              <a:rPr sz="2850" b="1">
                <a:solidFill>
                  <a:srgbClr val="102238"/>
                </a:solidFill>
                <a:latin typeface="Noto Sans JP"/>
                <a:ea typeface="Noto Sans JP"/>
                <a:cs typeface="Noto Sans JP"/>
              </a:rPr>
              <a:t>8つの着想を、業務機能へ置き換えた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D11AFE-3314-4A66-8161-3994199C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9906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687DB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1687DB"/>
                </a:solidFill>
                <a:latin typeface="Noto Sans JP"/>
                <a:ea typeface="Noto Sans JP"/>
                <a:cs typeface="Noto Sans JP"/>
              </a:rPr>
              <a:t>作品の演出ではなく、判断の根拠と安全な操作を説明するための言葉として使う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352833-1D67-4507-AB9F-8422601A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5B7188"/>
                </a:solidFill>
                <a:latin typeface="Noto Sans JP"/>
                <a:ea typeface="Noto Sans JP"/>
                <a:cs typeface="Noto Sans JP"/>
              </a:defRPr>
            </a:pPr>
            <a:r>
              <a:rPr sz="1200">
                <a:solidFill>
                  <a:srgbClr val="5B7188"/>
                </a:solidFill>
                <a:latin typeface="Noto Sans JP"/>
                <a:ea typeface="Noto Sans JP"/>
                <a:cs typeface="Noto Sans JP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597CE9-325D-4CEC-9E42-913954EC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62125"/>
            <a:ext cx="255270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5E3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8A47CE-F210-4021-B9C1-4EFE7D2D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62125"/>
            <a:ext cx="762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D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FDC558-A12A-4AFE-9740-C2043496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0288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71D35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071D35"/>
                </a:solidFill>
                <a:latin typeface="Noto Sans JP"/>
                <a:ea typeface="Noto Sans JP"/>
                <a:cs typeface="Noto Sans JP"/>
              </a:rPr>
              <a:t>フォース・ビジョン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CF792D-42E9-4389-9332-ADD319D2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05075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B7188"/>
                </a:solidFill>
                <a:latin typeface="Noto Sans JP"/>
                <a:ea typeface="Noto Sans JP"/>
                <a:cs typeface="Noto Sans JP"/>
              </a:defRPr>
            </a:pPr>
            <a:r>
              <a:rPr sz="1350">
                <a:solidFill>
                  <a:srgbClr val="5B7188"/>
                </a:solidFill>
                <a:latin typeface="Noto Sans JP"/>
                <a:ea typeface="Noto Sans JP"/>
                <a:cs typeface="Noto Sans JP"/>
              </a:rPr>
              <a:t>条件付きの対応案を比較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BDECD0-4440-41EE-8285-7A4D9BAD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762125"/>
            <a:ext cx="255270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5E3E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E0C72B-0952-4FD8-B746-5B548B50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762125"/>
            <a:ext cx="762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9C2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0F4E72-F7DB-4217-8D20-A63E115B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0288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71D35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071D35"/>
                </a:solidFill>
                <a:latin typeface="Noto Sans JP"/>
                <a:ea typeface="Noto Sans JP"/>
                <a:cs typeface="Noto Sans JP"/>
              </a:rPr>
              <a:t>フォース・センス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CAD284-8C4C-4AB0-8B1C-6792396B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505075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B7188"/>
                </a:solidFill>
                <a:latin typeface="Noto Sans JP"/>
                <a:ea typeface="Noto Sans JP"/>
                <a:cs typeface="Noto Sans JP"/>
              </a:defRPr>
            </a:pPr>
            <a:r>
              <a:rPr sz="1350">
                <a:solidFill>
                  <a:srgbClr val="5B7188"/>
                </a:solidFill>
                <a:latin typeface="Noto Sans JP"/>
                <a:ea typeface="Noto Sans JP"/>
                <a:cs typeface="Noto Sans JP"/>
              </a:rPr>
              <a:t>再発・期限・矛盾を検知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47E506-16CC-4C36-B0E1-A0E320A8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762125"/>
            <a:ext cx="255270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5E3E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4D51C0-AA4C-4DBB-A806-E1B2D79A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762125"/>
            <a:ext cx="762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A7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7373A3-DE15-43BA-AB56-F89AC68E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0288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71D35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071D35"/>
                </a:solidFill>
                <a:latin typeface="Noto Sans JP"/>
                <a:ea typeface="Noto Sans JP"/>
                <a:cs typeface="Noto Sans JP"/>
              </a:rPr>
              <a:t>サイコメトリー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31F5D7-CAA3-442B-A9B0-BD099FCB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505075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B7188"/>
                </a:solidFill>
                <a:latin typeface="Noto Sans JP"/>
                <a:ea typeface="Noto Sans JP"/>
                <a:cs typeface="Noto Sans JP"/>
              </a:defRPr>
            </a:pPr>
            <a:r>
              <a:rPr sz="1350">
                <a:solidFill>
                  <a:srgbClr val="5B7188"/>
                </a:solidFill>
                <a:latin typeface="Noto Sans JP"/>
                <a:ea typeface="Noto Sans JP"/>
                <a:cs typeface="Noto Sans JP"/>
              </a:rPr>
              <a:t>設備IDごとの履歴を復元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30E2AC-6D60-4E72-BD97-79C9B22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762125"/>
            <a:ext cx="255270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5E3E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04EF16-0F87-42EA-83EA-8EE6D446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762125"/>
            <a:ext cx="762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D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008E28-570C-4CB1-81F2-B2A846FE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0288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71D35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071D35"/>
                </a:solidFill>
                <a:latin typeface="Noto Sans JP"/>
                <a:ea typeface="Noto Sans JP"/>
                <a:cs typeface="Noto Sans JP"/>
              </a:rPr>
              <a:t>組分け帽子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A272D8-B99D-4DB1-BCCD-001CBFB6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505075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B7188"/>
                </a:solidFill>
                <a:latin typeface="Noto Sans JP"/>
                <a:ea typeface="Noto Sans JP"/>
                <a:cs typeface="Noto Sans JP"/>
              </a:defRPr>
            </a:pPr>
            <a:r>
              <a:rPr sz="1350">
                <a:solidFill>
                  <a:srgbClr val="5B7188"/>
                </a:solidFill>
                <a:latin typeface="Noto Sans JP"/>
                <a:ea typeface="Noto Sans JP"/>
                <a:cs typeface="Noto Sans JP"/>
              </a:rPr>
              <a:t>目的と危険度で処理を選択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376A55-0457-46DA-A015-B0E8B8E6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762375"/>
            <a:ext cx="255270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5E3E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D76CC1-92D4-4099-9B59-3FEF62D6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762375"/>
            <a:ext cx="762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A71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899E26-4D11-4970-9C9B-DBEAD182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0290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71D35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071D35"/>
                </a:solidFill>
                <a:latin typeface="Noto Sans JP"/>
                <a:ea typeface="Noto Sans JP"/>
                <a:cs typeface="Noto Sans JP"/>
              </a:rPr>
              <a:t>必要の部屋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4C204D-785D-4D8D-9173-36485CA0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505325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B7188"/>
                </a:solidFill>
                <a:latin typeface="Noto Sans JP"/>
                <a:ea typeface="Noto Sans JP"/>
                <a:cs typeface="Noto Sans JP"/>
              </a:defRPr>
            </a:pPr>
            <a:r>
              <a:rPr sz="1350">
                <a:solidFill>
                  <a:srgbClr val="5B7188"/>
                </a:solidFill>
                <a:latin typeface="Noto Sans JP"/>
                <a:ea typeface="Noto Sans JP"/>
                <a:cs typeface="Noto Sans JP"/>
              </a:rPr>
              <a:t>案件ごとの最小権限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95A589-0089-41E7-9F88-9632511B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762375"/>
            <a:ext cx="255270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5E3ED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2438A8-377F-4E28-B7D7-CE848BA6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762375"/>
            <a:ext cx="762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DB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CBFAC8-C1ED-4E06-8308-36D30B2A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0290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71D35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071D35"/>
                </a:solidFill>
                <a:latin typeface="Noto Sans JP"/>
                <a:ea typeface="Noto Sans JP"/>
                <a:cs typeface="Noto Sans JP"/>
              </a:rPr>
              <a:t>忍びの地図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C6A97C-8262-47AF-B2AD-3F517B97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505325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B7188"/>
                </a:solidFill>
                <a:latin typeface="Noto Sans JP"/>
                <a:ea typeface="Noto Sans JP"/>
                <a:cs typeface="Noto Sans JP"/>
              </a:defRPr>
            </a:pPr>
            <a:r>
              <a:rPr sz="1350">
                <a:solidFill>
                  <a:srgbClr val="5B7188"/>
                </a:solidFill>
                <a:latin typeface="Noto Sans JP"/>
                <a:ea typeface="Noto Sans JP"/>
                <a:cs typeface="Noto Sans JP"/>
              </a:rPr>
              <a:t>根拠・警告・状態を可視化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F54C3A-8524-4A23-9CA7-2573D94F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762375"/>
            <a:ext cx="255270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5E3ED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E3DBD1-88BB-4254-A346-CF4DBB5B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762375"/>
            <a:ext cx="762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9C25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885DAA-4884-4B08-ADFD-778891FD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0290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71D35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071D35"/>
                </a:solidFill>
                <a:latin typeface="Noto Sans JP"/>
                <a:ea typeface="Noto Sans JP"/>
                <a:cs typeface="Noto Sans JP"/>
              </a:rPr>
              <a:t>フォース・プッシュ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BCA650-31AA-463A-86B5-5AB6F7AD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505325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B7188"/>
                </a:solidFill>
                <a:latin typeface="Noto Sans JP"/>
                <a:ea typeface="Noto Sans JP"/>
                <a:cs typeface="Noto Sans JP"/>
              </a:defRPr>
            </a:pPr>
            <a:r>
              <a:rPr sz="1350">
                <a:solidFill>
                  <a:srgbClr val="5B7188"/>
                </a:solidFill>
                <a:latin typeface="Noto Sans JP"/>
                <a:ea typeface="Noto Sans JP"/>
                <a:cs typeface="Noto Sans JP"/>
              </a:rPr>
              <a:t>承認後だけ下書きを保存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15F2C2-2E9C-4095-90FB-FAC4F5A2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762375"/>
            <a:ext cx="255270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5E3ED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D73307-8F68-4471-B382-47CA638B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762375"/>
            <a:ext cx="762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A71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C74111-AFFC-4005-983A-F42F48D8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0290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71D35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071D35"/>
                </a:solidFill>
                <a:latin typeface="Noto Sans JP"/>
                <a:ea typeface="Noto Sans JP"/>
                <a:cs typeface="Noto Sans JP"/>
              </a:rPr>
              <a:t>ポートキー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FCEEA4-75F8-4278-95D4-24B0147D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505325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B7188"/>
                </a:solidFill>
                <a:latin typeface="Noto Sans JP"/>
                <a:ea typeface="Noto Sans JP"/>
                <a:cs typeface="Noto Sans JP"/>
              </a:defRPr>
            </a:pPr>
            <a:r>
              <a:rPr sz="1350">
                <a:solidFill>
                  <a:srgbClr val="5B7188"/>
                </a:solidFill>
                <a:latin typeface="Noto Sans JP"/>
                <a:ea typeface="Noto Sans JP"/>
                <a:cs typeface="Noto Sans JP"/>
              </a:rPr>
              <a:t>短時間・一回限りの移動</a:t>
            </a:r>
          </a:p>
        </p:txBody>
      </p:sp>
    </p:spTree>
    <p:extLst>
      <p:ext uri="{BB962C8B-B14F-4D97-AF65-F5344CB8AC3E}">
        <p14:creationId xmlns:p14="http://schemas.microsoft.com/office/powerpoint/2010/main" val="1219364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AA3737-77A5-4848-8270-EF5DD98F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02238"/>
                </a:solidFill>
                <a:latin typeface="Noto Sans JP"/>
                <a:ea typeface="Noto Sans JP"/>
                <a:cs typeface="Noto Sans JP"/>
              </a:defRPr>
            </a:pPr>
            <a:r>
              <a:rPr sz="2850" b="1">
                <a:solidFill>
                  <a:srgbClr val="102238"/>
                </a:solidFill>
                <a:latin typeface="Noto Sans JP"/>
                <a:ea typeface="Noto Sans JP"/>
                <a:cs typeface="Noto Sans JP"/>
              </a:rPr>
              <a:t>PC版とEve会話の使い分け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D66F7-F81B-4166-B236-5AEB37BD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9906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687DB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1687DB"/>
                </a:solidFill>
                <a:latin typeface="Noto Sans JP"/>
                <a:ea typeface="Noto Sans JP"/>
                <a:cs typeface="Noto Sans JP"/>
              </a:rPr>
              <a:t>同じMissionの安全境界を、異なる入口で扱う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6536F2-045B-4300-957D-918DF620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5B7188"/>
                </a:solidFill>
                <a:latin typeface="Noto Sans JP"/>
                <a:ea typeface="Noto Sans JP"/>
                <a:cs typeface="Noto Sans JP"/>
              </a:defRPr>
            </a:pPr>
            <a:r>
              <a:rPr sz="1200">
                <a:solidFill>
                  <a:srgbClr val="5B7188"/>
                </a:solidFill>
                <a:latin typeface="Noto Sans JP"/>
                <a:ea typeface="Noto Sans JP"/>
                <a:cs typeface="Noto Sans JP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9CECBF-95AC-44D5-B102-B48D9C62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4767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071D3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4ACE99-985E-4B18-BCBA-3041D662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098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PC版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DC1904-756D-4BE4-8136-D388AC10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95625"/>
            <a:ext cx="3381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CDEBFC"/>
                </a:solidFill>
                <a:latin typeface="Noto Sans JP"/>
                <a:ea typeface="Noto Sans JP"/>
                <a:cs typeface="Noto Sans JP"/>
              </a:defRPr>
            </a:pPr>
            <a:r>
              <a:rPr sz="1575">
                <a:solidFill>
                  <a:srgbClr val="CDEBFC"/>
                </a:solidFill>
                <a:latin typeface="Noto Sans JP"/>
                <a:ea typeface="Noto Sans JP"/>
                <a:cs typeface="Noto Sans JP"/>
              </a:rPr>
              <a:t>既定は外部LLMを呼ばない</a:t>
            </a:r>
          </a:p>
          <a:p xmlns:a="http://schemas.openxmlformats.org/drawingml/2006/main">
            <a:pPr>
              <a:buNone/>
              <a:defRPr sz="1575">
                <a:solidFill>
                  <a:srgbClr val="CDEBFC"/>
                </a:solidFill>
                <a:latin typeface="Noto Sans JP"/>
                <a:ea typeface="Noto Sans JP"/>
                <a:cs typeface="Noto Sans JP"/>
              </a:defRPr>
            </a:pPr>
            <a:r>
              <a:rPr sz="1575">
                <a:solidFill>
                  <a:srgbClr val="CDEBFC"/>
                </a:solidFill>
                <a:latin typeface="Noto Sans JP"/>
                <a:ea typeface="Noto Sans JP"/>
                <a:cs typeface="Noto Sans JP"/>
              </a:rPr>
              <a:t>履歴・警告・3案をルール処理で表示</a:t>
            </a:r>
          </a:p>
          <a:p xmlns:a="http://schemas.openxmlformats.org/drawingml/2006/main">
            <a:pPr>
              <a:buNone/>
              <a:defRPr sz="1575">
                <a:solidFill>
                  <a:srgbClr val="CDEBFC"/>
                </a:solidFill>
                <a:latin typeface="Noto Sans JP"/>
                <a:ea typeface="Noto Sans JP"/>
                <a:cs typeface="Noto Sans JP"/>
              </a:defRPr>
            </a:pPr>
            <a:r>
              <a:rPr sz="1575">
                <a:solidFill>
                  <a:srgbClr val="CDEBFC"/>
                </a:solidFill>
                <a:latin typeface="Noto Sans JP"/>
                <a:ea typeface="Noto Sans JP"/>
                <a:cs typeface="Noto Sans JP"/>
              </a:rPr>
              <a:t>任意で30秒の確認済みマイク音声だけをORCAへ送る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CDE2E9-39CA-4B60-913E-45818D16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00250"/>
            <a:ext cx="44767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3E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7B87F2-15BA-4813-A311-2A6D6245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4098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071D35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>
                <a:solidFill>
                  <a:srgbClr val="071D35"/>
                </a:solidFill>
                <a:latin typeface="Noto Sans JP"/>
                <a:ea typeface="Noto Sans JP"/>
                <a:cs typeface="Noto Sans JP"/>
              </a:rPr>
              <a:t>Eve会話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98F7BA-796B-4323-826F-63E7B41E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95625"/>
            <a:ext cx="3476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5B7188"/>
                </a:solidFill>
                <a:latin typeface="Noto Sans JP"/>
                <a:ea typeface="Noto Sans JP"/>
                <a:cs typeface="Noto Sans JP"/>
              </a:defRPr>
            </a:pPr>
            <a:r>
              <a:rPr sz="1575">
                <a:solidFill>
                  <a:srgbClr val="5B7188"/>
                </a:solidFill>
                <a:latin typeface="Noto Sans JP"/>
                <a:ea typeface="Noto Sans JP"/>
                <a:cs typeface="Noto Sans JP"/>
              </a:rPr>
              <a:t>自然言語で依頼</a:t>
            </a:r>
          </a:p>
          <a:p xmlns:a="http://schemas.openxmlformats.org/drawingml/2006/main">
            <a:pPr>
              <a:buNone/>
              <a:defRPr sz="1575">
                <a:solidFill>
                  <a:srgbClr val="5B7188"/>
                </a:solidFill>
                <a:latin typeface="Noto Sans JP"/>
                <a:ea typeface="Noto Sans JP"/>
                <a:cs typeface="Noto Sans JP"/>
              </a:defRPr>
            </a:pPr>
            <a:r>
              <a:rPr sz="1575">
                <a:solidFill>
                  <a:srgbClr val="5B7188"/>
                </a:solidFill>
                <a:latin typeface="Noto Sans JP"/>
                <a:ea typeface="Noto Sans JP"/>
                <a:cs typeface="Noto Sans JP"/>
              </a:rPr>
              <a:t>目的・危険度・根拠からToolを選択</a:t>
            </a:r>
          </a:p>
          <a:p xmlns:a="http://schemas.openxmlformats.org/drawingml/2006/main">
            <a:pPr>
              <a:buNone/>
              <a:defRPr sz="1575">
                <a:solidFill>
                  <a:srgbClr val="5B7188"/>
                </a:solidFill>
                <a:latin typeface="Noto Sans JP"/>
                <a:ea typeface="Noto Sans JP"/>
                <a:cs typeface="Noto Sans JP"/>
              </a:defRPr>
            </a:pPr>
            <a:r>
              <a:rPr sz="1575">
                <a:solidFill>
                  <a:srgbClr val="5B7188"/>
                </a:solidFill>
                <a:latin typeface="Noto Sans JP"/>
                <a:ea typeface="Noto Sans JP"/>
                <a:cs typeface="Noto Sans JP"/>
              </a:rPr>
              <a:t>ORCA ROUTERまたはClaudeを実行時に選択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27E125-31AF-4EC5-A584-E6BB6C58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19750"/>
            <a:ext cx="895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687DB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1687DB"/>
                </a:solidFill>
                <a:latin typeface="Noto Sans JP"/>
                <a:ea typeface="Noto Sans JP"/>
                <a:cs typeface="Noto Sans JP"/>
              </a:rPr>
              <a:t>共通の安全境界: 入力検査 / 根拠確認 / 危険時の停止 / 人の承認 / 重複防止</a:t>
            </a:r>
          </a:p>
        </p:txBody>
      </p:sp>
    </p:spTree>
    <p:extLst>
      <p:ext uri="{BB962C8B-B14F-4D97-AF65-F5344CB8AC3E}">
        <p14:creationId xmlns:p14="http://schemas.microsoft.com/office/powerpoint/2010/main" val="8431143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1D1D86-EA01-4B3E-A7A4-3BBFA059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02238"/>
                </a:solidFill>
                <a:latin typeface="Noto Sans JP"/>
                <a:ea typeface="Noto Sans JP"/>
                <a:cs typeface="Noto Sans JP"/>
              </a:defRPr>
            </a:pPr>
            <a:r>
              <a:rPr sz="2850" b="1">
                <a:solidFill>
                  <a:srgbClr val="102238"/>
                </a:solidFill>
                <a:latin typeface="Noto Sans JP"/>
                <a:ea typeface="Noto Sans JP"/>
                <a:cs typeface="Noto Sans JP"/>
              </a:rPr>
              <a:t>安全設計は、AIへのお願いではなく実行条件で守る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AD3FD-CF8F-4136-A6E4-6283B729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9906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687DB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1687DB"/>
                </a:solidFill>
                <a:latin typeface="Noto Sans JP"/>
                <a:ea typeface="Noto Sans JP"/>
                <a:cs typeface="Noto Sans JP"/>
              </a:rPr>
              <a:t>読める範囲、書ける範囲、人へ戻す条件をコードで固定する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FFC05C-E6A4-4254-B9FA-66044553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5B7188"/>
                </a:solidFill>
                <a:latin typeface="Noto Sans JP"/>
                <a:ea typeface="Noto Sans JP"/>
                <a:cs typeface="Noto Sans JP"/>
              </a:defRPr>
            </a:pPr>
            <a:r>
              <a:rPr sz="1200">
                <a:solidFill>
                  <a:srgbClr val="5B7188"/>
                </a:solidFill>
                <a:latin typeface="Noto Sans JP"/>
                <a:ea typeface="Noto Sans JP"/>
                <a:cs typeface="Noto Sans JP"/>
              </a:rPr>
              <a:t>06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ef621dd8d943f1"/>
          <a:srcRect xmlns:a="http://schemas.openxmlformats.org/drawingml/2006/main" l="8886" t="0" r="888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05625" y="1571625"/>
            <a:ext cx="4333875" cy="3952875"/>
          </a:xfrm>
          <a:prstGeom xmlns:a="http://schemas.openxmlformats.org/drawingml/2006/main" prst="roundRect">
            <a:avLst>
              <a:gd name="adj" fmla="val 3855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A89EDD-622A-4034-B48C-C22CF086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561975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41300" indent="-114300">
              <a:spcAft>
                <a:spcPts val="800"/>
              </a:spcAft>
              <a:buChar char="•"/>
              <a:defRPr sz="1500">
                <a:solidFill>
                  <a:srgbClr val="102238"/>
                </a:solidFill>
                <a:latin typeface="Noto Sans JP"/>
                <a:ea typeface="Noto Sans JP"/>
                <a:cs typeface="Noto Sans JP"/>
              </a:defRPr>
            </a:pPr>
            <a:r>
              <a:rPr sz="1500">
                <a:solidFill>
                  <a:srgbClr val="102238"/>
                </a:solidFill>
                <a:latin typeface="Noto Sans JP"/>
                <a:ea typeface="Noto Sans JP"/>
                <a:cs typeface="Noto Sans JP"/>
              </a:rPr>
              <a:t>`masked://`形式以外の画像参照を拒否</a:t>
            </a:r>
          </a:p>
          <a:p xmlns:a="http://schemas.openxmlformats.org/drawingml/2006/main">
            <a:pPr marL="241300" indent="-114300">
              <a:spcAft>
                <a:spcPts val="800"/>
              </a:spcAft>
              <a:buChar char="•"/>
              <a:defRPr sz="1500">
                <a:solidFill>
                  <a:srgbClr val="102238"/>
                </a:solidFill>
                <a:latin typeface="Noto Sans JP"/>
                <a:ea typeface="Noto Sans JP"/>
                <a:cs typeface="Noto Sans JP"/>
              </a:defRPr>
            </a:pPr>
            <a:r>
              <a:rPr sz="1500">
                <a:solidFill>
                  <a:srgbClr val="102238"/>
                </a:solidFill>
                <a:latin typeface="Noto Sans JP"/>
                <a:ea typeface="Noto Sans JP"/>
                <a:cs typeface="Noto Sans JP"/>
              </a:rPr>
              <a:t>Vault外の実パス、対象外ファイル、危険な入力を拒否</a:t>
            </a:r>
          </a:p>
          <a:p xmlns:a="http://schemas.openxmlformats.org/drawingml/2006/main">
            <a:pPr marL="241300" indent="-114300">
              <a:spcAft>
                <a:spcPts val="800"/>
              </a:spcAft>
              <a:buChar char="•"/>
              <a:defRPr sz="1500">
                <a:solidFill>
                  <a:srgbClr val="102238"/>
                </a:solidFill>
                <a:latin typeface="Noto Sans JP"/>
                <a:ea typeface="Noto Sans JP"/>
                <a:cs typeface="Noto Sans JP"/>
              </a:defRPr>
            </a:pPr>
            <a:r>
              <a:rPr sz="1500">
                <a:solidFill>
                  <a:srgbClr val="102238"/>
                </a:solidFill>
                <a:latin typeface="Noto Sans JP"/>
                <a:ea typeface="Noto Sans JP"/>
                <a:cs typeface="Noto Sans JP"/>
              </a:rPr>
              <a:t>保存は内容確認と毎回の承認が必要</a:t>
            </a:r>
          </a:p>
          <a:p xmlns:a="http://schemas.openxmlformats.org/drawingml/2006/main">
            <a:pPr marL="241300" indent="-114300">
              <a:spcAft>
                <a:spcPts val="800"/>
              </a:spcAft>
              <a:buChar char="•"/>
              <a:defRPr sz="1500">
                <a:solidFill>
                  <a:srgbClr val="102238"/>
                </a:solidFill>
                <a:latin typeface="Noto Sans JP"/>
                <a:ea typeface="Noto Sans JP"/>
                <a:cs typeface="Noto Sans JP"/>
              </a:defRPr>
            </a:pPr>
            <a:r>
              <a:rPr sz="1500">
                <a:solidFill>
                  <a:srgbClr val="102238"/>
                </a:solidFill>
                <a:latin typeface="Noto Sans JP"/>
                <a:ea typeface="Noto Sans JP"/>
                <a:cs typeface="Noto Sans JP"/>
              </a:rPr>
              <a:t>音声送信は都度確認、最大30秒、マイクのみ、ORCAのみ、保存なし</a:t>
            </a:r>
          </a:p>
          <a:p xmlns:a="http://schemas.openxmlformats.org/drawingml/2006/main">
            <a:pPr marL="241300" indent="-114300">
              <a:spcAft>
                <a:spcPts val="800"/>
              </a:spcAft>
              <a:buChar char="•"/>
              <a:defRPr sz="1500">
                <a:solidFill>
                  <a:srgbClr val="102238"/>
                </a:solidFill>
                <a:latin typeface="Noto Sans JP"/>
                <a:ea typeface="Noto Sans JP"/>
                <a:cs typeface="Noto Sans JP"/>
              </a:defRPr>
            </a:pPr>
            <a:r>
              <a:rPr sz="1500">
                <a:solidFill>
                  <a:srgbClr val="102238"/>
                </a:solidFill>
                <a:latin typeface="Noto Sans JP"/>
                <a:ea typeface="Noto Sans JP"/>
                <a:cs typeface="Noto Sans JP"/>
              </a:rPr>
              <a:t>根拠変更、矛盾、危険語、予算超過では安全側に停止</a:t>
            </a:r>
          </a:p>
          <a:p xmlns:a="http://schemas.openxmlformats.org/drawingml/2006/main">
            <a:pPr marL="241300" indent="-114300">
              <a:spcAft>
                <a:spcPts val="800"/>
              </a:spcAft>
              <a:buChar char="•"/>
              <a:defRPr sz="1500">
                <a:solidFill>
                  <a:srgbClr val="102238"/>
                </a:solidFill>
                <a:latin typeface="Noto Sans JP"/>
                <a:ea typeface="Noto Sans JP"/>
                <a:cs typeface="Noto Sans JP"/>
              </a:defRPr>
            </a:pPr>
            <a:r>
              <a:rPr sz="1500">
                <a:solidFill>
                  <a:srgbClr val="102238"/>
                </a:solidFill>
                <a:latin typeface="Noto Sans JP"/>
                <a:ea typeface="Noto Sans JP"/>
                <a:cs typeface="Noto Sans JP"/>
              </a:rPr>
              <a:t>同じ操作IDの再送では二重保存しない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E063EF-9022-42D5-982A-6DDB74BC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6737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B66700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B66700"/>
                </a:solidFill>
                <a:latin typeface="Noto Sans JP"/>
                <a:ea typeface="Noto Sans JP"/>
                <a:cs typeface="Noto Sans JP"/>
              </a:rPr>
              <a:t>送信・保存・承認の境界をコードで固定し、監査可能な操作履歴を残す</a:t>
            </a:r>
          </a:p>
        </p:txBody>
      </p:sp>
    </p:spTree>
    <p:extLst>
      <p:ext uri="{BB962C8B-B14F-4D97-AF65-F5344CB8AC3E}">
        <p14:creationId xmlns:p14="http://schemas.microsoft.com/office/powerpoint/2010/main" val="13730047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E17B74-411F-4323-8BF2-2AEB9CDF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02238"/>
                </a:solidFill>
                <a:latin typeface="Noto Sans JP"/>
                <a:ea typeface="Noto Sans JP"/>
                <a:cs typeface="Noto Sans JP"/>
              </a:defRPr>
            </a:pPr>
            <a:r>
              <a:rPr sz="2850" b="1">
                <a:solidFill>
                  <a:srgbClr val="102238"/>
                </a:solidFill>
                <a:latin typeface="Noto Sans JP"/>
                <a:ea typeface="Noto Sans JP"/>
                <a:cs typeface="Noto Sans JP"/>
              </a:rPr>
              <a:t>コストの主張は、測定済みと設計値を分ける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98E586-7343-44BE-A1DE-3C7D5BB2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9906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687DB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1687DB"/>
                </a:solidFill>
                <a:latin typeface="Noto Sans JP"/>
                <a:ea typeface="Noto Sans JP"/>
                <a:cs typeface="Noto Sans JP"/>
              </a:rPr>
              <a:t>PC版の既定分析はモデル0回。音声E2Eは3回連続で成功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19A120-E32A-42A0-8A73-79FA2982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5B7188"/>
                </a:solidFill>
                <a:latin typeface="Noto Sans JP"/>
                <a:ea typeface="Noto Sans JP"/>
                <a:cs typeface="Noto Sans JP"/>
              </a:defRPr>
            </a:pPr>
            <a:r>
              <a:rPr sz="1200">
                <a:solidFill>
                  <a:srgbClr val="5B7188"/>
                </a:solidFill>
                <a:latin typeface="Noto Sans JP"/>
                <a:ea typeface="Noto Sans JP"/>
                <a:cs typeface="Noto Sans JP"/>
              </a:rPr>
              <a:t>07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85800" y="1752600"/>
          <a:ext xmlns:a="http://schemas.openxmlformats.org/drawingml/2006/main" cx="7067550" cy="2762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514600"/>
                <a:gridCol w="2190750"/>
                <a:gridCol w="2362200"/>
              </a:tblGrid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確認項目</a:t>
                      </a:r>
                    </a:p>
                  </a:txBody>
                  <a:tcPr marL="91440" marR="91440" marT="45720" marB="45720" anchor="ctr">
                    <a:solidFill>
                      <a:srgbClr val="071D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実績</a:t>
                      </a:r>
                    </a:p>
                  </a:txBody>
                  <a:tcPr marL="91440" marR="91440" marT="45720" marB="45720" anchor="ctr">
                    <a:solidFill>
                      <a:srgbClr val="071D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運用設計</a:t>
                      </a:r>
                    </a:p>
                  </a:txBody>
                  <a:tcPr marL="91440" marR="91440" marT="45720" marB="45720" anchor="ctr">
                    <a:solidFill>
                      <a:srgbClr val="071D35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23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PC版の通常分析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23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モデル呼出し 0回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23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ルール処理で結果を表示</a:t>
                      </a:r>
                    </a:p>
                  </a:txBody>
                  <a:tcPr marL="91440" marR="91440" marT="45720" marB="45720" anchor="ctr"/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23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ORCA音声E2E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23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 / 3 HTTP 200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23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サーバー実測 27.684秒</a:t>
                      </a:r>
                    </a:p>
                  </a:txBody>
                  <a:tcPr marL="91440" marR="91440" marT="45720" marB="45720" anchor="ctr"/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23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音声分析コスト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23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$0.0011394 / 3回（見積）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23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1日6回・予約$0.06で制限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AF1295-3183-430E-92A6-851FFEDE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28575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3E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9E0EE2-6C2E-4080-821E-96F13AD4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907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0E9A71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0E9A71"/>
                </a:solidFill>
                <a:latin typeface="Noto Sans JP"/>
                <a:ea typeface="Noto Sans JP"/>
                <a:cs typeface="Noto Sans JP"/>
              </a:rPr>
              <a:t>43 / 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A3280-C9D4-46D8-A677-3B1F1285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57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5B7188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5B7188"/>
                </a:solidFill>
                <a:latin typeface="Noto Sans JP"/>
                <a:ea typeface="Noto Sans JP"/>
                <a:cs typeface="Noto Sans JP"/>
              </a:rPr>
              <a:t>自動テスト成功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81566F-D242-4B8A-AC7D-EAD28775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429000"/>
            <a:ext cx="209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102238"/>
                </a:solidFill>
                <a:latin typeface="Noto Sans JP"/>
                <a:ea typeface="Noto Sans JP"/>
                <a:cs typeface="Noto Sans JP"/>
              </a:defRPr>
            </a:pPr>
            <a:r>
              <a:rPr sz="1275">
                <a:solidFill>
                  <a:srgbClr val="102238"/>
                </a:solidFill>
                <a:latin typeface="Noto Sans JP"/>
                <a:ea typeface="Noto Sans JP"/>
                <a:cs typeface="Noto Sans JP"/>
              </a:rPr>
              <a:t>TypeScript: 0エラー</a:t>
            </a:r>
          </a:p>
          <a:p xmlns:a="http://schemas.openxmlformats.org/drawingml/2006/main">
            <a:pPr algn="ctr">
              <a:buNone/>
              <a:defRPr sz="1275">
                <a:solidFill>
                  <a:srgbClr val="102238"/>
                </a:solidFill>
                <a:latin typeface="Noto Sans JP"/>
                <a:ea typeface="Noto Sans JP"/>
                <a:cs typeface="Noto Sans JP"/>
              </a:defRPr>
            </a:pPr>
            <a:r>
              <a:rPr sz="1275">
                <a:solidFill>
                  <a:srgbClr val="102238"/>
                </a:solidFill>
                <a:latin typeface="Noto Sans JP"/>
                <a:ea typeface="Noto Sans JP"/>
                <a:cs typeface="Noto Sans JP"/>
              </a:rPr>
              <a:t>Eve: 構成検査成功</a:t>
            </a:r>
          </a:p>
          <a:p xmlns:a="http://schemas.openxmlformats.org/drawingml/2006/main">
            <a:pPr algn="ctr">
              <a:buNone/>
              <a:defRPr sz="1275">
                <a:solidFill>
                  <a:srgbClr val="102238"/>
                </a:solidFill>
                <a:latin typeface="Noto Sans JP"/>
                <a:ea typeface="Noto Sans JP"/>
                <a:cs typeface="Noto Sans JP"/>
              </a:defRPr>
            </a:pPr>
            <a:r>
              <a:rPr sz="1275">
                <a:solidFill>
                  <a:srgbClr val="102238"/>
                </a:solidFill>
                <a:latin typeface="Noto Sans JP"/>
                <a:ea typeface="Noto Sans JP"/>
                <a:cs typeface="Noto Sans JP"/>
              </a:rPr>
              <a:t>秘密情報スキャン: 成功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A4203A-C6DD-4AD3-BAD1-B7443280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B66700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B66700"/>
                </a:solidFill>
                <a:latin typeface="Noto Sans JP"/>
                <a:ea typeface="Noto Sans JP"/>
                <a:cs typeface="Noto Sans JP"/>
              </a:rPr>
              <a:t>実環境E2E: 27.684秒の音声を3回連続処理。合計見積 $0.0011394、設定上限 $2 以内。</a:t>
            </a:r>
          </a:p>
        </p:txBody>
      </p:sp>
    </p:spTree>
    <p:extLst>
      <p:ext uri="{BB962C8B-B14F-4D97-AF65-F5344CB8AC3E}">
        <p14:creationId xmlns:p14="http://schemas.microsoft.com/office/powerpoint/2010/main" val="14136351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60D1D7-4B44-49CE-BA56-018EE25C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02238"/>
                </a:solidFill>
                <a:latin typeface="Noto Sans JP"/>
                <a:ea typeface="Noto Sans JP"/>
                <a:cs typeface="Noto Sans JP"/>
              </a:defRPr>
            </a:pPr>
            <a:r>
              <a:rPr sz="2850" b="1">
                <a:solidFill>
                  <a:srgbClr val="102238"/>
                </a:solidFill>
                <a:latin typeface="Noto Sans JP"/>
                <a:ea typeface="Noto Sans JP"/>
                <a:cs typeface="Noto Sans JP"/>
              </a:rPr>
              <a:t>デモでは、4つの基本操作と任意の音声分析を見せる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EED0AD-1383-4DA4-899D-F1635F38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9906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687DB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1687DB"/>
                </a:solidFill>
                <a:latin typeface="Noto Sans JP"/>
                <a:ea typeface="Noto Sans JP"/>
                <a:cs typeface="Noto Sans JP"/>
              </a:rPr>
              <a:t>説明より先に、根拠・警告・承認の流れを体験してもらう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265AC7-26F2-483A-8E90-4CE8C83C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5B7188"/>
                </a:solidFill>
                <a:latin typeface="Noto Sans JP"/>
                <a:ea typeface="Noto Sans JP"/>
                <a:cs typeface="Noto Sans JP"/>
              </a:defRPr>
            </a:pPr>
            <a:r>
              <a:rPr sz="1200">
                <a:solidFill>
                  <a:srgbClr val="5B7188"/>
                </a:solidFill>
                <a:latin typeface="Noto Sans JP"/>
                <a:ea typeface="Noto Sans JP"/>
                <a:cs typeface="Noto Sans JP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BC93CE-16FB-4A4B-8895-DE521782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43125"/>
            <a:ext cx="2428875" cy="2476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5E3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A0BF5F-FA3E-4C7B-AEC4-937485D7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622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D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98F05C-FFA5-412B-835D-FB3ED055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336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005E3-D012-4950-A4E6-BA0BE572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71D35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71D35"/>
                </a:solidFill>
                <a:latin typeface="Noto Sans JP"/>
                <a:ea typeface="Noto Sans JP"/>
                <a:cs typeface="Noto Sans JP"/>
              </a:rPr>
              <a:t>合成デモを開始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5778F4-A0D4-4C5B-8248-40C5B35E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5B7188"/>
                </a:solidFill>
                <a:latin typeface="Noto Sans JP"/>
                <a:ea typeface="Noto Sans JP"/>
                <a:cs typeface="Noto Sans JP"/>
              </a:defRPr>
            </a:pPr>
            <a:r>
              <a:rPr sz="1200">
                <a:solidFill>
                  <a:srgbClr val="5B7188"/>
                </a:solidFill>
                <a:latin typeface="Noto Sans JP"/>
                <a:ea typeface="Noto Sans JP"/>
                <a:cs typeface="Noto Sans JP"/>
              </a:rPr>
              <a:t>設備IDを起点に作業室を作る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9A6F38-FE73-4AD9-B920-00C01837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43125"/>
            <a:ext cx="2428875" cy="2476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5E3E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3DAC0C-59D5-41B7-A606-12DF320C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622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D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6619C1-37BB-4D02-B796-BD1F543D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336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7187A5-2636-4535-8111-3AB21345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3147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71D35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71D35"/>
                </a:solidFill>
                <a:latin typeface="Noto Sans JP"/>
                <a:ea typeface="Noto Sans JP"/>
                <a:cs typeface="Noto Sans JP"/>
              </a:rPr>
              <a:t>根拠と警告を確認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FF1FE2-7822-430D-A3C4-938CFB86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4810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5B7188"/>
                </a:solidFill>
                <a:latin typeface="Noto Sans JP"/>
                <a:ea typeface="Noto Sans JP"/>
                <a:cs typeface="Noto Sans JP"/>
              </a:defRPr>
            </a:pPr>
            <a:r>
              <a:rPr sz="1200">
                <a:solidFill>
                  <a:srgbClr val="5B7188"/>
                </a:solidFill>
                <a:latin typeface="Noto Sans JP"/>
                <a:ea typeface="Noto Sans JP"/>
                <a:cs typeface="Noto Sans JP"/>
              </a:rPr>
              <a:t>履歴4件、警告2件、3案を表示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418FA9-72F6-47FB-883C-F4605E55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43125"/>
            <a:ext cx="2428875" cy="2476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5E3E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EA88A2-C7EA-4F30-92F1-0C867818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3622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D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E4C021-E969-494E-AD42-22166DE6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336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B6885A-4243-447C-BB9E-292D5F28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147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71D35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71D35"/>
                </a:solidFill>
                <a:latin typeface="Noto Sans JP"/>
                <a:ea typeface="Noto Sans JP"/>
                <a:cs typeface="Noto Sans JP"/>
              </a:rPr>
              <a:t>保存内容を確認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A603E1-7C33-4B69-98B9-F8AEF96F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4810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5B7188"/>
                </a:solidFill>
                <a:latin typeface="Noto Sans JP"/>
                <a:ea typeface="Noto Sans JP"/>
                <a:cs typeface="Noto Sans JP"/>
              </a:defRPr>
            </a:pPr>
            <a:r>
              <a:rPr sz="1200">
                <a:solidFill>
                  <a:srgbClr val="5B7188"/>
                </a:solidFill>
                <a:latin typeface="Noto Sans JP"/>
                <a:ea typeface="Noto Sans JP"/>
                <a:cs typeface="Noto Sans JP"/>
              </a:rPr>
              <a:t>下書きと保存先を表示。まだ書き込まない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3DACCE-09FC-4656-BD3C-A0AD070A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43125"/>
            <a:ext cx="2428875" cy="2476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8F8F1"/>
          </a:solidFill>
          <a:ln xmlns:a="http://schemas.openxmlformats.org/drawingml/2006/main" w="9525">
            <a:solidFill>
              <a:srgbClr val="9ED7B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D8C1CB-D5B0-407C-9D7C-D9FEB21E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3622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A7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EF51CA-8790-4544-AF66-AE99B55E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5336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6146FA-55DB-411D-88F7-26961EA5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3147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71D35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71D35"/>
                </a:solidFill>
                <a:latin typeface="Noto Sans JP"/>
                <a:ea typeface="Noto Sans JP"/>
                <a:cs typeface="Noto Sans JP"/>
              </a:rPr>
              <a:t>承認して保存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93268B-E349-4A61-9090-00F87701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84810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5B7188"/>
                </a:solidFill>
                <a:latin typeface="Noto Sans JP"/>
                <a:ea typeface="Noto Sans JP"/>
                <a:cs typeface="Noto Sans JP"/>
              </a:defRPr>
            </a:pPr>
            <a:r>
              <a:rPr sz="1200">
                <a:solidFill>
                  <a:srgbClr val="5B7188"/>
                </a:solidFill>
                <a:latin typeface="Noto Sans JP"/>
                <a:ea typeface="Noto Sans JP"/>
                <a:cs typeface="Noto Sans JP"/>
              </a:rPr>
              <a:t>同じPC・同じログインの一回限り移動も確認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8BE442-8AC9-4A06-9ED0-A5F7955A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292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687DB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1687DB"/>
                </a:solidFill>
                <a:latin typeface="Noto Sans JP"/>
                <a:ea typeface="Noto Sans JP"/>
                <a:cs typeface="Noto Sans JP"/>
              </a:rPr>
              <a:t>デモでは実Vaultを変更しない。音声分析は任意で、要約をMissionへ自動投入しない。保存結果はprivate JSON下書きとして扱う。</a:t>
            </a:r>
          </a:p>
        </p:txBody>
      </p:sp>
    </p:spTree>
    <p:extLst>
      <p:ext uri="{BB962C8B-B14F-4D97-AF65-F5344CB8AC3E}">
        <p14:creationId xmlns:p14="http://schemas.microsoft.com/office/powerpoint/2010/main" val="12684998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B711A0-A974-4146-AC2B-447CFDEB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02238"/>
                </a:solidFill>
                <a:latin typeface="Noto Sans JP"/>
                <a:ea typeface="Noto Sans JP"/>
                <a:cs typeface="Noto Sans JP"/>
              </a:defRPr>
            </a:pPr>
            <a:r>
              <a:rPr sz="2850" b="1">
                <a:solidFill>
                  <a:srgbClr val="102238"/>
                </a:solidFill>
                <a:latin typeface="Noto Sans JP"/>
                <a:ea typeface="Noto Sans JP"/>
                <a:cs typeface="Noto Sans JP"/>
              </a:rPr>
              <a:t>ハッカソン評価軸への回答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16025C-E4EC-4F8E-B45C-0DB40A09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9906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687DB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1687DB"/>
                </a:solidFill>
                <a:latin typeface="Noto Sans JP"/>
                <a:ea typeface="Noto Sans JP"/>
                <a:cs typeface="Noto Sans JP"/>
              </a:rPr>
              <a:t>実装と実環境E2Eの根拠を、評価軸ごとに示す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464125-7D58-48EB-8487-E48C6375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5B7188"/>
                </a:solidFill>
                <a:latin typeface="Noto Sans JP"/>
                <a:ea typeface="Noto Sans JP"/>
                <a:cs typeface="Noto Sans JP"/>
              </a:defRPr>
            </a:pPr>
            <a:r>
              <a:rPr sz="1200">
                <a:solidFill>
                  <a:srgbClr val="5B7188"/>
                </a:solidFill>
                <a:latin typeface="Noto Sans JP"/>
                <a:ea typeface="Noto Sans JP"/>
                <a:cs typeface="Noto Sans JP"/>
              </a:rPr>
              <a:t>09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23875" y="1562100"/>
          <a:ext xmlns:a="http://schemas.openxmlformats.org/drawingml/2006/main" cx="11144250" cy="3714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09750"/>
                <a:gridCol w="2381250"/>
                <a:gridCol w="6953250"/>
              </a:tblGrid>
              <a:tr h="6191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評価軸</a:t>
                      </a:r>
                    </a:p>
                  </a:txBody>
                  <a:tcPr marL="91440" marR="91440" marT="45720" marB="45720" anchor="ctr">
                    <a:solidFill>
                      <a:srgbClr val="071D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実装・検証</a:t>
                      </a:r>
                    </a:p>
                  </a:txBody>
                  <a:tcPr marL="91440" marR="91440" marT="45720" marB="45720" anchor="ctr">
                    <a:solidFill>
                      <a:srgbClr val="071D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発表で伝えること</a:t>
                      </a:r>
                    </a:p>
                  </a:txBody>
                  <a:tcPr marL="91440" marR="91440" marT="45720" marB="45720" anchor="ctr">
                    <a:solidFill>
                      <a:srgbClr val="071D35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セキュリティ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入力検査、承認、CSRF、音声送信制限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送信と保存をコードで制御</a:t>
                      </a:r>
                    </a:p>
                  </a:txBody>
                  <a:tcPr marL="91440" marR="91440" marT="45720" marB="45720" anchor="ctr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コストパフォーマンス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通常分析0回、音声E2E見積 $0.0011394 / 3回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品質に応じて処理を選択</a:t>
                      </a:r>
                    </a:p>
                  </a:txBody>
                  <a:tcPr marL="91440" marR="91440" marT="45720" marB="45720" anchor="ctr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信頼性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43テスト、実デコード、レート制限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異常時は安全側の処理へ切替</a:t>
                      </a:r>
                    </a:p>
                  </a:txBody>
                  <a:tcPr marL="91440" marR="91440" marT="45720" marB="45720" anchor="ctr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自律性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目的・危険度・根拠・予算で分岐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候補を下書き化し人が承認</a:t>
                      </a:r>
                    </a:p>
                  </a:txBody>
                  <a:tcPr marL="91440" marR="91440" marT="45720" marB="45720" anchor="ctr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独創性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過去・現在・未来・行動を一画面へ集約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8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物語の比喩を安全制御へ翻訳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16C64B-0682-4994-AAE2-61266E99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959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687DB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1687DB"/>
                </a:solidFill>
                <a:latin typeface="Noto Sans JP"/>
                <a:ea typeface="Noto Sans JP"/>
                <a:cs typeface="Noto Sans JP"/>
              </a:rPr>
              <a:t>AIの判断を根拠・承認・実行条件で支え、業務で確認できる形にする。</a:t>
            </a:r>
          </a:p>
        </p:txBody>
      </p:sp>
    </p:spTree>
    <p:extLst>
      <p:ext uri="{BB962C8B-B14F-4D97-AF65-F5344CB8AC3E}">
        <p14:creationId xmlns:p14="http://schemas.microsoft.com/office/powerpoint/2010/main" val="19604512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D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074c60b18a4b97"/>
          <a:srcRect xmlns:a="http://schemas.openxmlformats.org/drawingml/2006/main" l="24205" t="0" r="2420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0"/>
            <a:ext cx="6286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6ED23C-9C75-4A92-9239-F26BCDE4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7152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7C01CD-06FA-4720-8468-0DB8E842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50D3F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50D3FF"/>
                </a:solidFill>
                <a:latin typeface="Noto Sans JP"/>
                <a:ea typeface="Noto Sans JP"/>
                <a:cs typeface="Noto Sans JP"/>
              </a:rPr>
              <a:t>Connect-Force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8F95F1-7F1F-4B5B-9C6B-F217D7A7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5429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根拠を残し、</a:t>
            </a:r>
          </a:p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人が決める業務AIへ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099A2D-8E91-4B87-B681-02EDC6D3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86250"/>
            <a:ext cx="495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CDEBFC"/>
                </a:solidFill>
                <a:latin typeface="Noto Sans JP"/>
                <a:ea typeface="Noto Sans JP"/>
                <a:cs typeface="Noto Sans JP"/>
              </a:defRPr>
            </a:pPr>
            <a:r>
              <a:rPr sz="1575">
                <a:solidFill>
                  <a:srgbClr val="CDEBFC"/>
                </a:solidFill>
                <a:latin typeface="Noto Sans JP"/>
                <a:ea typeface="Noto Sans JP"/>
                <a:cs typeface="Noto Sans JP"/>
              </a:rPr>
              <a:t>次の検証</a:t>
            </a:r>
          </a:p>
          <a:p xmlns:a="http://schemas.openxmlformats.org/drawingml/2006/main">
            <a:pPr>
              <a:buNone/>
              <a:defRPr sz="1575">
                <a:solidFill>
                  <a:srgbClr val="CDEBFC"/>
                </a:solidFill>
                <a:latin typeface="Noto Sans JP"/>
                <a:ea typeface="Noto Sans JP"/>
                <a:cs typeface="Noto Sans JP"/>
              </a:defRPr>
            </a:pPr>
            <a:r>
              <a:rPr sz="1575">
                <a:solidFill>
                  <a:srgbClr val="CDEBFC"/>
                </a:solidFill>
                <a:latin typeface="Noto Sans JP"/>
                <a:ea typeface="Noto Sans JP"/>
                <a:cs typeface="Noto Sans JP"/>
              </a:rPr>
              <a:t>新規ORCAキーでの音声E2E  /  匿名評価セット  /  現場パイロット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3689F2-2F15-410A-92FD-CCD14C76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531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91CBEF"/>
                </a:solidFill>
                <a:latin typeface="Noto Sans JP"/>
                <a:ea typeface="Noto Sans JP"/>
                <a:cs typeface="Noto Sans JP"/>
              </a:defRPr>
            </a:pPr>
            <a:r>
              <a:rPr sz="1350">
                <a:solidFill>
                  <a:srgbClr val="91CBEF"/>
                </a:solidFill>
                <a:latin typeface="Noto Sans JP"/>
                <a:ea typeface="Noto Sans JP"/>
                <a:cs typeface="Noto Sans JP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646493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2026-09-21T13:47:51.5610000Z</dcterms:created>
  <dcterms:modified xsi:type="dcterms:W3CDTF">2026-09-21T13:47:51.5610000Z</dcterms:modified>
</coreProperties>
</file>