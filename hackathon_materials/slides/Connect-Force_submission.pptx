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d776768f8bb48e7" Type="http://schemas.openxmlformats.org/officeDocument/2006/relationships/extended-properties" Target="docProps/app.xml"/><Relationship Id="R3481324ac0684c65" Type="http://schemas.openxmlformats.org/package/2006/relationships/metadata/core-properties" Target="docProps/core.xml"/><Relationship Id="R59f58d4c330d4ba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eb8e93f32641ab"/>
  </p:sldMasterIdLst>
  <p:notesMasterIdLst>
    <p:notesMasterId xmlns:r="http://schemas.openxmlformats.org/officeDocument/2006/relationships" r:id="R64c5e7145d734aff"/>
  </p:notesMasterIdLst>
  <p:sldIdLst>
    <p:sldId xmlns:ns0="http://schemas.openxmlformats.org/officeDocument/2006/relationships" id="256" ns0:id="rId7"/>
    <p:sldId xmlns:ns0="http://schemas.openxmlformats.org/officeDocument/2006/relationships" id="257" ns0:id="rId8"/>
    <p:sldId xmlns:ns0="http://schemas.openxmlformats.org/officeDocument/2006/relationships" id="258" ns0:id="rId9"/>
    <p:sldId xmlns:ns0="http://schemas.openxmlformats.org/officeDocument/2006/relationships" id="259" ns0:id="rId10"/>
    <p:sldId xmlns:ns0="http://schemas.openxmlformats.org/officeDocument/2006/relationships" id="260" ns0:id="rId11"/>
    <p:sldId xmlns:ns0="http://schemas.openxmlformats.org/officeDocument/2006/relationships" id="261" ns0:id="rId12"/>
    <p:sldId xmlns:ns0="http://schemas.openxmlformats.org/officeDocument/2006/relationships" id="262" ns0:id="rId13"/>
    <p:sldId xmlns:ns0="http://schemas.openxmlformats.org/officeDocument/2006/relationships" id="263" ns0:id="rId14"/>
    <p:sldId xmlns:ns0="http://schemas.openxmlformats.org/officeDocument/2006/relationships" id="264" ns0:id="rId15"/>
    <p:sldId xmlns:ns0="http://schemas.openxmlformats.org/officeDocument/2006/relationships" id="265" ns0:id="rId16"/>
    <p:sldId xmlns:ns0="http://schemas.openxmlformats.org/officeDocument/2006/relationships" id="266" ns0:id="rId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3c6d1e4ed004a96" Type="http://schemas.openxmlformats.org/officeDocument/2006/relationships/viewProps" Target="viewProps.xml"/><Relationship Id="R59eb8e93f32641ab" Type="http://schemas.openxmlformats.org/officeDocument/2006/relationships/slideMaster" Target="slideMasters/slideMaster1.xml"/><Relationship Id="R64c5e7145d734aff" Type="http://schemas.openxmlformats.org/officeDocument/2006/relationships/notesMaster" Target="notesMasters/notesMaster1.xml"/><Relationship Id="R818eacfb3cc84eff" Type="http://schemas.openxmlformats.org/officeDocument/2006/relationships/theme" Target="theme/theme1.xml"/><Relationship Id="R9b373699d836415d" Type="http://schemas.openxmlformats.org/officeDocument/2006/relationships/presProps" Target="presProps.xml"/><Relationship Id="Rb0d3eb73a12049ee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44151440d1fb46b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一言で：物にかざすと経緯が開く。会話を聞いて、次の業務の資料とメールを、下書きまで作る。送るのは人。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f19f5d51aec849d5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c4f03e2d236c4ec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132d88becc3496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6fc2ff0d4814f3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7b7ee252fc8b408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2b9426b3c464df4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a61c306af1a347eb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8fc029e06225499a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20c06d0928f145b0" Type="http://schemas.openxmlformats.org/officeDocument/2006/relationships/slideMaster" Target="../slideMasters/slideMaster1.xml"/><Relationship Id="R3ce03af58cac4644" Type="http://schemas.openxmlformats.org/officeDocument/2006/relationships/image" Target="../media/image.png"/></Relationships>
</file>

<file path=ppt/slideLayouts/_rels/slideLayout10.xml.rels><?xml version='1.0' encoding='UTF-8' standalone='yes'?>
<Relationships xmlns="http://schemas.openxmlformats.org/package/2006/relationships"><Relationship Id="Rb6df74f8d51e40ed" Type="http://schemas.openxmlformats.org/officeDocument/2006/relationships/slideMaster" Target="../slideMasters/slideMaster1.xml"/><Relationship Id="Rdac36a8c32654fee" Type="http://schemas.openxmlformats.org/officeDocument/2006/relationships/image" Target="../media/image2.png"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3ce03af58cac464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dac36a8c32654fe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677bbe6ecf945c2" Type="http://schemas.openxmlformats.org/officeDocument/2006/relationships/slideLayout" Target="../slideLayouts/slideLayout5.xml"/><Relationship Id="R538f77fcda594f7d" Type="http://schemas.openxmlformats.org/officeDocument/2006/relationships/slideLayout" Target="../slideLayouts/slideLayout1.xml"/><Relationship Id="R559f7e7587e24187" Type="http://schemas.openxmlformats.org/officeDocument/2006/relationships/slideLayout" Target="../slideLayouts/slideLayout7.xml"/><Relationship Id="R6ea4c405e852478e" Type="http://schemas.openxmlformats.org/officeDocument/2006/relationships/slideLayout" Target="../slideLayouts/slideLayout4.xml"/><Relationship Id="R85a3411d714c4b4b" Type="http://schemas.openxmlformats.org/officeDocument/2006/relationships/slideLayout" Target="../slideLayouts/slideLayout6.xml"/><Relationship Id="R85ea4763138343a4" Type="http://schemas.openxmlformats.org/officeDocument/2006/relationships/slideLayout" Target="../slideLayouts/slideLayout3.xml"/><Relationship Id="Ra36715fbcea94c7b" Type="http://schemas.openxmlformats.org/officeDocument/2006/relationships/slideLayout" Target="../slideLayouts/slideLayout2.xml"/><Relationship Id="Ra704987e851944d3" Type="http://schemas.openxmlformats.org/officeDocument/2006/relationships/slideLayout" Target="../slideLayouts/slideLayout10.xml"/><Relationship Id="Rb0212397e7244c2b" Type="http://schemas.openxmlformats.org/officeDocument/2006/relationships/slideLayout" Target="../slideLayouts/slideLayout9.xml"/><Relationship Id="Rd2feadf5eaa44509" Type="http://schemas.openxmlformats.org/officeDocument/2006/relationships/theme" Target="theme/theme2.xml"/><Relationship Id="Rf89d855f7de947ff" Type="http://schemas.openxmlformats.org/officeDocument/2006/relationships/slideLayout" Target="../slideLayouts/slideLayout8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8f77fcda594f7d"/>
    <p:sldLayoutId xmlns:r="http://schemas.openxmlformats.org/officeDocument/2006/relationships" id="2147483650" r:id="Ra36715fbcea94c7b"/>
    <p:sldLayoutId xmlns:r="http://schemas.openxmlformats.org/officeDocument/2006/relationships" id="2147483651" r:id="R85ea4763138343a4"/>
    <p:sldLayoutId xmlns:r="http://schemas.openxmlformats.org/officeDocument/2006/relationships" id="2147483652" r:id="R6ea4c405e852478e"/>
    <p:sldLayoutId xmlns:r="http://schemas.openxmlformats.org/officeDocument/2006/relationships" id="2147483653" r:id="R2677bbe6ecf945c2"/>
    <p:sldLayoutId xmlns:r="http://schemas.openxmlformats.org/officeDocument/2006/relationships" id="2147483654" r:id="R85a3411d714c4b4b"/>
    <p:sldLayoutId xmlns:r="http://schemas.openxmlformats.org/officeDocument/2006/relationships" id="2147483655" r:id="R559f7e7587e24187"/>
    <p:sldLayoutId xmlns:r="http://schemas.openxmlformats.org/officeDocument/2006/relationships" id="2147483656" r:id="Rf89d855f7de947ff"/>
    <p:sldLayoutId xmlns:r="http://schemas.openxmlformats.org/officeDocument/2006/relationships" id="2147483657" r:id="Rb0212397e7244c2b"/>
    <p:sldLayoutId xmlns:r="http://schemas.openxmlformats.org/officeDocument/2006/relationships" id="2147483658" r:id="Ra704987e851944d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47548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90A9C3"/>
                </a:solidFill>
                <a:latin typeface="Noto Sans JP"/>
              </a:rPr>
              <a:t>見るconnect × 物エージェント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011680"/>
            <a:ext cx="960120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800" b="0">
                <a:solidFill>
                  <a:srgbClr val="F4F8FC"/>
                </a:solidFill>
                <a:latin typeface="Noto Sans JP"/>
              </a:rPr>
              <a:t>Connect-Force</a:t>
            </a:r>
          </a:p>
          <a:p>
            <a:pPr algn="l"/>
            <a:r>
              <a:rPr sz="3800" b="0">
                <a:solidFill>
                  <a:srgbClr val="F4F8FC"/>
                </a:solidFill>
                <a:latin typeface="Noto Sans JP"/>
              </a:rPr>
              <a:t>会話と画面から、次の業務を組み立てる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389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>
                <a:solidFill>
                  <a:srgbClr val="70C6F0"/>
                </a:solidFill>
                <a:latin typeface="Noto Sans JP"/>
              </a:rPr>
              <a:t>物にかざす → 経緯が開く → 会話から資料とメールの下書きまで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029200"/>
            <a:ext cx="107899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>
                <a:solidFill>
                  <a:srgbClr val="DDE7F0"/>
                </a:solidFill>
                <a:latin typeface="Noto Sans JP"/>
              </a:rPr>
              <a:t>AIが選び、コードが守り、人が確定する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何ができるか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物や場所に貼ったQR・NFCから、担当・記録・経緯が開き、作業の成果は「動くカード」で渡せる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物のページ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タグを読むと、担当・資料・これまでのカード・経緯の要約が開く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動くカード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写真と声から説明文を作り、作業前後を見比べられる。リンクで渡す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9164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写真の保護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顔・ナンバー・書類は、送る前に端末で隠す。共有範囲は作り手が決める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会話から次の業務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9768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会話を文字にして確認し、「私はこう理解しました」で提案。合っていれば下書きに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9476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88620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画面の分析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9768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通話の画面は、開けた所だけをAIが見る。残る顔・文字は指摘する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79476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88620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資料の自動作成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29768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会話×画面から、Excelの表・Wordの説明・メールの下書きを作る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0B315B"/>
                </a:solidFill>
                <a:latin typeface="Noto Sans JP"/>
              </a:rPr>
              <a:t>受け手はアプリ不要。リンクで見られ、受け手が次の作り手になる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物エージェントの構成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元に戻せる判断はAI、元に戻せない操作と安全の境界はコード、確定は人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920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50" b="1">
                <a:solidFill>
                  <a:srgbClr val="0B315B"/>
                </a:solidFill>
                <a:latin typeface="Noto Sans JP"/>
              </a:rPr>
              <a:t>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920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カード・履歴・期限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会話の文字・画面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EAF5FC"/>
          </a:solidFill>
          <a:ln w="12700">
            <a:solidFill>
              <a:srgbClr val="36A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4884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50" b="1">
                <a:solidFill>
                  <a:srgbClr val="0B315B"/>
                </a:solidFill>
                <a:latin typeface="Noto Sans JP"/>
              </a:rPr>
              <a:t>AIが選ぶ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60320"/>
            <a:ext cx="256032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カードの種類・情報不足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共有範囲を狭める提案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次の業務の提案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資料・メールの下書き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691640"/>
            <a:ext cx="2377440" cy="155448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810512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50" b="1">
                <a:solidFill>
                  <a:srgbClr val="0B315B"/>
                </a:solidFill>
                <a:latin typeface="Noto Sans JP"/>
              </a:rPr>
              <a:t>コードが検証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94560"/>
            <a:ext cx="21945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引用の実在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個人情報・人名の検査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520440"/>
            <a:ext cx="2377440" cy="155448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639312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50" b="1">
                <a:solidFill>
                  <a:srgbClr val="0B315B"/>
                </a:solidFill>
                <a:latin typeface="Noto Sans JP"/>
              </a:rPr>
              <a:t>AIに渡さない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023360"/>
            <a:ext cx="21945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リンク発行・共有拡大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削除・送信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011680"/>
            <a:ext cx="1920240" cy="2743200"/>
          </a:xfrm>
          <a:prstGeom prst="roundRect">
            <a:avLst>
              <a:gd name="adj" fmla="val 6000"/>
            </a:avLst>
          </a:prstGeom>
          <a:solidFill>
            <a:srgbClr val="EFF8F3"/>
          </a:solidFill>
          <a:ln w="12700">
            <a:solidFill>
              <a:srgbClr val="A6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14884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50" b="1">
                <a:solidFill>
                  <a:srgbClr val="16805B"/>
                </a:solidFill>
                <a:latin typeface="Noto Sans JP"/>
              </a:rPr>
              <a:t>人が確定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560320"/>
            <a:ext cx="173736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確認する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同意する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承認する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共有・送信は人が押す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70048" y="3337560"/>
            <a:ext cx="731520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99632" y="2468880"/>
            <a:ext cx="722376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99632" y="4297680"/>
            <a:ext cx="722376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54312" y="2468880"/>
            <a:ext cx="402336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54312" y="4297680"/>
            <a:ext cx="402336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71600" y="5577840"/>
            <a:ext cx="94183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5B6B7D"/>
                </a:solidFill>
                <a:latin typeface="Noto Sans JP"/>
              </a:rPr>
              <a:t>判断のたびに、選択・理由・裏付け・使ったモデル・原価を、判断ログに残す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デモの流れ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共有画面と電話の声から、資料とメールの下書きまで（Zoom・電話とPCのやり取り）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1 共有画面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現場の画像を共有し、全面を隠す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9164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2 開ける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9456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対象の物だけ、なぞって囲んで開ける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9164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3 音声分析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電話の声を文字にして、確認する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EAF5FC"/>
          </a:solidFill>
          <a:ln w="12700">
            <a:solidFill>
              <a:srgbClr val="36A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4 意味統合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会話と画面を結びつけ、対象に赤丸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84048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93192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5 自動作成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34340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Excel・Word・メールの下書き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84048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EFF8F3"/>
          </a:solidFill>
          <a:ln w="12700">
            <a:solidFill>
              <a:srgbClr val="A6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93192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6 選択肢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34340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共有／送信の準備（人が押す）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5B6B7D"/>
                </a:solidFill>
                <a:latin typeface="Noto Sans JP"/>
              </a:rPr>
              <a:t>起動できないときは、検証の通しを録画した動画で紹介する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デモ画面（検証の通し）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なぞって囲んで、対象の物だけを開ける → 会話と結びついた対象に赤丸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5</a:t>
            </a:r>
          </a:p>
        </p:txBody>
      </p:sp>
      <p:pic>
        <p:nvPicPr>
          <p:cNvPr id="5" name="Picture 4" descr="02_なぞって開け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577840" cy="3486150"/>
          </a:xfrm>
          <a:prstGeom prst="rect">
            <a:avLst/>
          </a:prstGeom>
        </p:spPr>
      </p:pic>
      <p:pic>
        <p:nvPicPr>
          <p:cNvPr id="6" name="Picture 5" descr="05_結果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394960" cy="52899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440680"/>
            <a:ext cx="55778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5B6B7D"/>
                </a:solidFill>
                <a:latin typeface="Noto Sans JP"/>
              </a:rPr>
              <a:t>開けた面積は端末が測って表示（上限 20%）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6035040"/>
            <a:ext cx="5394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5B6B7D"/>
                </a:solidFill>
                <a:latin typeface="Noto Sans JP"/>
              </a:rPr>
              <a:t>カラーコーンと単管を、会話から結びつけて赤丸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資料とメールを自動作成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表はExcel、説明はWord、メールはGmailの作成画面へ。共有・送信は人が押したときだけ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6</a:t>
            </a:r>
          </a:p>
        </p:txBody>
      </p:sp>
      <p:pic>
        <p:nvPicPr>
          <p:cNvPr id="5" name="Picture 4" descr="05_結果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035040" cy="69601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554480"/>
            <a:ext cx="4937760" cy="4206240"/>
          </a:xfrm>
          <a:prstGeom prst="roundRect">
            <a:avLst>
              <a:gd name="adj" fmla="val 6000"/>
            </a:avLst>
          </a:prstGeom>
          <a:solidFill>
            <a:srgbClr val="EAF5FC"/>
          </a:solidFill>
          <a:ln w="12700">
            <a:solidFill>
              <a:srgbClr val="36A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691640"/>
            <a:ext cx="4663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50" b="1">
                <a:solidFill>
                  <a:srgbClr val="0B315B"/>
                </a:solidFill>
                <a:latin typeface="Noto Sans JP"/>
              </a:rPr>
              <a:t>次の選択肢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194560"/>
            <a:ext cx="4663440" cy="3474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共有：オーナーが決めたフォルダへ、表・文書をコピー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送信の準備：Gmailの作成画面を開く（宛先なし。送るのは人）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編集：作成した下書きは、開いて直せる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AIは、共有も送信もしない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守り方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守りはコードで書き、変異テストで外れないことを確認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00200"/>
            <a:ext cx="5394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6805B"/>
                </a:solidFill>
                <a:latin typeface="Noto Sans JP"/>
              </a:rPr>
              <a:t>画像と音声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011680"/>
            <a:ext cx="5394960" cy="3474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写真は端末で隠してから送る。元の画像は、サーバーにもAIにも届かない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通話の画面は、全面を隠し、開けた所だけをAIへ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開けた面積は端末が測り、サーバーが画素で二重に確かめる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音声は保存しない。文字を確認するまで、画像はAIに渡さない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統合分析は、3つの設定とセッションごとの確認が揃ったときだけ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02920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6805B"/>
                </a:solidFill>
                <a:latin typeface="Noto Sans JP"/>
              </a:rPr>
              <a:t>AIの出力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3474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根拠の引用が会話に実在しなければ捨てる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個人情報の語・人名・長い数字列・指示への追従は、コードが捨てる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送信・共有範囲の拡大・削除は、ツールとして渡さない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共有先は、オーナーが決めた1か所のフォルダだけ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0B315B"/>
                </a:solidFill>
                <a:latin typeface="Noto Sans JP"/>
              </a:rPr>
              <a:t>自動テスト 839 件 ／ 門を外すと失敗する変異 35 か所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同意の設計：AIの判断を、思いに合わせる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文字→確認→理解を見せる→同意→承認→下書き（送信はしない）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057400" cy="201168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7830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文字を確認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78308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直す・消す。確認するまでAIに渡さない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78608" y="3017520"/>
            <a:ext cx="210312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2011680"/>
            <a:ext cx="2057400" cy="2011680"/>
          </a:xfrm>
          <a:prstGeom prst="roundRect">
            <a:avLst>
              <a:gd name="adj" fmla="val 6000"/>
            </a:avLst>
          </a:prstGeom>
          <a:solidFill>
            <a:srgbClr val="EAF5FC"/>
          </a:solidFill>
          <a:ln w="12700">
            <a:solidFill>
              <a:srgbClr val="36A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2103120"/>
            <a:ext cx="17830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AIが提案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514600"/>
            <a:ext cx="178308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「私はこう理解しました」＋会話の引用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64608" y="3017520"/>
            <a:ext cx="210312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2011680"/>
            <a:ext cx="2057400" cy="201168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103120"/>
            <a:ext cx="17830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作り手が応答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514600"/>
            <a:ext cx="178308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合っている／一部違う／違う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50608" y="3017520"/>
            <a:ext cx="210312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2011680"/>
            <a:ext cx="2057400" cy="201168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2103120"/>
            <a:ext cx="17830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直して再提案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514600"/>
            <a:ext cx="178308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2回続けて違えば、AIは止まる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36608" y="3017520"/>
            <a:ext cx="210312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46920" y="2011680"/>
            <a:ext cx="2057400" cy="2011680"/>
          </a:xfrm>
          <a:prstGeom prst="roundRect">
            <a:avLst>
              <a:gd name="adj" fmla="val 6000"/>
            </a:avLst>
          </a:prstGeom>
          <a:solidFill>
            <a:srgbClr val="EFF8F3"/>
          </a:solidFill>
          <a:ln w="12700">
            <a:solidFill>
              <a:srgbClr val="A6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103120"/>
            <a:ext cx="17830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承認して下書き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514600"/>
            <a:ext cx="178308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通知案・点検日・入力欄・資料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「違う」は記録して、同意率として測る。判断が思いと合っているかの物差しにする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測ってから決めた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モデルも、経路も、しきい値も、実測で選ぶ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247802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16805B"/>
                </a:solidFill>
                <a:latin typeface="Noto Sans JP"/>
              </a:rPr>
              <a:t>6/6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23160"/>
            <a:ext cx="247802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5B6B7D"/>
                </a:solidFill>
                <a:latin typeface="Noto Sans JP"/>
              </a:rPr>
              <a:t>統合分析の完了（直し後）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74136" y="1691640"/>
            <a:ext cx="247802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16805B"/>
                </a:solidFill>
                <a:latin typeface="Noto Sans JP"/>
              </a:rPr>
              <a:t>$0.055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6" y="2423160"/>
            <a:ext cx="247802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5B6B7D"/>
                </a:solidFill>
                <a:latin typeface="Noto Sans JP"/>
              </a:rPr>
              <a:t>統合分析 1 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1691640"/>
            <a:ext cx="247802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16805B"/>
                </a:solidFill>
                <a:latin typeface="Noto Sans JP"/>
              </a:rPr>
              <a:t>$0.0007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1344" y="2423160"/>
            <a:ext cx="247802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5B6B7D"/>
                </a:solidFill>
                <a:latin typeface="Noto Sans JP"/>
              </a:rPr>
              <a:t>音声の文字化 1 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1" y="1691640"/>
            <a:ext cx="247802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16805B"/>
                </a:solidFill>
                <a:latin typeface="Noto Sans JP"/>
              </a:rPr>
              <a:t>839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8551" y="2423160"/>
            <a:ext cx="247802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5B6B7D"/>
                </a:solidFill>
                <a:latin typeface="Noto Sans JP"/>
              </a:rPr>
              <a:t>自動テスト（全通過）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29184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</a:rPr>
                        <a:t>測ったもの</a:t>
                      </a:r>
                    </a:p>
                  </a:txBody>
                  <a:tcPr marL="73152" marR="73152" marT="36576" marB="36576" anchor="ctr">
                    <a:solidFill>
                      <a:srgbClr val="0B31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</a:rPr>
                        <a:t>結果</a:t>
                      </a:r>
                    </a:p>
                  </a:txBody>
                  <a:tcPr marL="73152" marR="73152" marT="36576" marB="36576" anchor="ctr">
                    <a:solidFill>
                      <a:srgbClr val="0B315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会話の判断（6モデル）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1件 $0.0005〜$0.0123。gemini-3.5-flash-lite は 1.6 秒・同意率 85%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面積の門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広く開けた画像の通過 0/20。端末が測る拡張モードは、圧縮の影響を受けない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承認だけで下書きになる行動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27% → 33%（日付の候補をコードが作る）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Orca を主にした構成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判断1件の費用 −32%。Claude 直は予備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5つの評価軸との対応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自律性・セキュリティ・コスト・信頼性・独創性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3544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</a:rPr>
                        <a:t>軸</a:t>
                      </a:r>
                    </a:p>
                  </a:txBody>
                  <a:tcPr marL="73152" marR="73152" marT="36576" marB="36576" anchor="ctr">
                    <a:solidFill>
                      <a:srgbClr val="0B31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</a:rPr>
                        <a:t>この構成での実現</a:t>
                      </a:r>
                    </a:p>
                  </a:txBody>
                  <a:tcPr marL="73152" marR="73152" marT="36576" marB="36576" anchor="ctr">
                    <a:solidFill>
                      <a:srgbClr val="0B315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自律性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会話と画面から、次の業務・資料・メールの下書き・次の選択肢まで、AIが組み立てる。実行は人が押す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セキュリティ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端末で隠す／既定オフ・確認・同意・承認／共有先を限定／宛先なしのGmailリンク／AIに渡さない操作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コスパ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役割ごとにモデルを使い分け。統合分析 1 回 約 $0.055、音声 1 回 $0.0007。資料の生成はコード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信頼性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引用の照合・失敗時は下書きを作らない・変異テスト・同時実行 72 件で失敗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独創性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音声 × フィルター後の画面 × 赤丸 × Excel・Word・メール × 次の選択肢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物が経緯を語り、会話から次の業務が組み立つ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926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>
                <a:solidFill>
                  <a:srgbClr val="172433"/>
                </a:solidFill>
                <a:latin typeface="Noto Sans JP"/>
              </a:rPr>
              <a:t>物にかざすと、担当・記録・経緯が開く</a:t>
            </a:r>
          </a:p>
          <a:p>
            <a:pPr algn="l"/>
            <a:r>
              <a:rPr sz="2000" b="0">
                <a:solidFill>
                  <a:srgbClr val="172433"/>
                </a:solidFill>
                <a:latin typeface="Noto Sans JP"/>
              </a:rPr>
              <a:t>会話と画面から、資料とメールの下書きまで、AIが組み立てる</a:t>
            </a:r>
          </a:p>
          <a:p>
            <a:pPr algn="l"/>
            <a:r>
              <a:rPr sz="2000" b="0">
                <a:solidFill>
                  <a:srgbClr val="172433"/>
                </a:solidFill>
                <a:latin typeface="Noto Sans JP"/>
              </a:rPr>
              <a:t>個人情報は端末で隠し、AIの出力はコードが検査し、確定は人</a:t>
            </a:r>
          </a:p>
          <a:p>
            <a:pPr algn="l"/>
            <a:r>
              <a:rPr sz="2000" b="0">
                <a:solidFill>
                  <a:srgbClr val="172433"/>
                </a:solidFill>
                <a:latin typeface="Noto Sans JP"/>
              </a:rPr>
              <a:t>リポジトリから、そのまま動かせる（開発モード・テスト 839 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9966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0B315B"/>
                </a:solidFill>
                <a:latin typeface="Noto Sans JP"/>
              </a:rPr>
              <a:t>AIが選び、コードが守り、人が確定する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2026-09-20T07:18:13.0250000Z</dcterms:created>
  <dcterms:modified xsi:type="dcterms:W3CDTF">2026-09-20T07:18:13.0250000Z</dcterms:modified>
</coreProperties>
</file>